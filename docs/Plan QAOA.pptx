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2" r:id="rId3"/>
    <p:sldId id="275" r:id="rId4"/>
    <p:sldId id="273" r:id="rId5"/>
    <p:sldId id="270" r:id="rId6"/>
    <p:sldId id="276" r:id="rId7"/>
    <p:sldId id="277" r:id="rId8"/>
    <p:sldId id="278" r:id="rId9"/>
    <p:sldId id="279" r:id="rId10"/>
    <p:sldId id="269" r:id="rId11"/>
    <p:sldId id="285" r:id="rId12"/>
    <p:sldId id="283" r:id="rId13"/>
    <p:sldId id="284" r:id="rId14"/>
    <p:sldId id="280" r:id="rId15"/>
    <p:sldId id="282" r:id="rId16"/>
    <p:sldId id="267" r:id="rId17"/>
    <p:sldId id="264" r:id="rId18"/>
    <p:sldId id="258" r:id="rId19"/>
    <p:sldId id="261" r:id="rId20"/>
    <p:sldId id="268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7DE-417A-4AC5-A2D1-333DB37741B7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3EF85-6113-40A1-8C50-1FDE5EDE264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4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B3EF85-6113-40A1-8C50-1FDE5EDE264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03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1EB8D-A428-D763-3175-4F647F136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880F3D-6568-4FE1-A6EE-4302D68A0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999E6E-472B-D076-79FF-31F3C416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FCD372-227E-965A-F7C4-86E27C7E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FD5824-E291-B3AF-26B3-86544E32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163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00192-AB91-B09D-6CF5-2A9C80FE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7A33A7-5A18-BB72-8881-7200E4D9E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93F987-0545-B875-8F11-B8DAB56A9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A8F7D3-03CD-BF47-E5FC-BE521F8E1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FA0ADE-D95B-7E09-693B-553E00F0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958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EC2F48-6DC8-5FB5-6AD8-A2C24ECC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16DC5F-7023-14E9-BED0-BD45E71A1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E299A0-72BA-FDCA-96A6-3B498C9FB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E03482-A362-0919-BD4E-4EF083A8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0F59C9-284E-982F-4B23-189D0D45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30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61FD7E-331B-ED36-1F40-8FC38DF5A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E8DF47-4663-CD74-E881-77D5162DE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8ED51F-D81A-2000-714D-8A89AE3C0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C5B0C4-E0BC-3570-E7EC-E30BD7C9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FC37E4-D98D-D4B4-CA23-A367710C8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8667C3-6DA3-B6B9-E9A9-016A70767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32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E93571-E85F-C40A-DDB7-1EE0900F3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FC9FA1-E469-BC3B-1A59-D5D4913E6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16752F-AC40-A320-B17F-7753D1B76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2056562-6E31-4718-CD22-C39C1E6E0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54DBE9B-9624-FDA8-3BE7-82C6319AE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0822906-3711-B875-7259-5998CB10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7AFA4C1-B170-36EC-33B2-4D954B63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50AA7BA-D0AC-FAC2-5FDD-C6BDB7F23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39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E2E034-1DF7-12FE-0BCA-E33680D5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68EB4C2-39A1-E4E2-5174-D0781146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611DD8-A55D-C304-BDAA-619304478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90ECED0-2498-DE83-B462-1A7423A4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21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DC25E7-69DB-C37C-CB42-3C9EA617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66F606C-876E-54AF-5929-8003E16B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3C88BD-6AD2-42AC-3C23-F90D05D9B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0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AF0C6-34B5-163C-C4EE-72FF012B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6FED19-3B04-A0B2-0E8A-4C7A5F9F3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952989-E37D-75F9-7EA4-D78F8B3C0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0B1DB5-0CCE-3A54-909D-861FC3FB6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675E73A-B2EC-646D-5897-C4D33ACAD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90E531-5711-4920-B107-D49C6AB4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719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3DF441-CBA9-3FD2-5698-DE34ADD7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5036D1-92FE-79D0-E185-46D378FE5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AF41EB-A375-79F0-BD94-0E6DCD88E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B5841E-3666-EE9A-F01A-CB1F0039F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56BA49-B8D7-1393-F4D2-4B14AD5A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6490CE-EF57-E230-142C-C738C474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04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F47F32-DB9A-00A6-D094-B23F2132A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466A04-F983-735D-9DAB-723FD5909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CD8832-5601-38C0-925C-FB5F01A5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B1C618-502C-0396-F3E7-8B660E47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1AEBA5-6D97-A3AB-8C97-7E41E981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713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366932-BCA7-E4E6-1CEF-FBA2FD0693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4C8D30E-1249-34F7-CC62-7EEBCC881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FF2BE7-37B8-6A24-E216-C115D503C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3783E0-CDBC-0632-0463-591C0F53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CC2124-D459-A222-962B-8E501B2B7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02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2438C23-34BF-3405-74C0-853EFDE2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0047B8-AD8A-9D09-38D0-4852EEB4A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061AE4-271A-88B1-C0B0-7C34B6DEF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2CD20C-FF1A-4309-B87D-F26260795734}" type="datetimeFigureOut">
              <a:rPr lang="en-GB" smtClean="0"/>
              <a:t>09/08/2026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4C0064-41DD-A483-BAD1-5D2B94850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6E1568-B6B9-8853-98B1-5AC48E0E0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EEE3F1-6C6E-414F-B53C-943993585B1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26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7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408EE-2F08-F808-0B43-1F6DFEA32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46779"/>
            <a:ext cx="9144000" cy="2387600"/>
          </a:xfrm>
        </p:spPr>
        <p:txBody>
          <a:bodyPr>
            <a:normAutofit/>
          </a:bodyPr>
          <a:lstStyle/>
          <a:p>
            <a:r>
              <a:rPr lang="en-GB" sz="5400" b="1" dirty="0"/>
              <a:t>Performance of QAOA for MIS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4A7CE38-432F-FBC0-AAEE-DBE353D05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32896"/>
            <a:ext cx="9144000" cy="1655762"/>
          </a:xfrm>
        </p:spPr>
        <p:txBody>
          <a:bodyPr/>
          <a:lstStyle/>
          <a:p>
            <a:r>
              <a:rPr lang="en-GB" b="1" dirty="0"/>
              <a:t>Implementation on Pennylane</a:t>
            </a:r>
          </a:p>
          <a:p>
            <a:r>
              <a:rPr lang="en-GB" b="1" dirty="0"/>
              <a:t>Simulation on AMD clusters</a:t>
            </a:r>
          </a:p>
        </p:txBody>
      </p:sp>
      <p:pic>
        <p:nvPicPr>
          <p:cNvPr id="4" name="Image 3" descr="GPU AMD Instinct™ Série MI350">
            <a:extLst>
              <a:ext uri="{FF2B5EF4-FFF2-40B4-BE49-F238E27FC236}">
                <a16:creationId xmlns:a16="http://schemas.microsoft.com/office/drawing/2014/main" id="{FD58E7E0-D465-4E4F-0AD5-5AF2C283A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116" y="3980733"/>
            <a:ext cx="3579768" cy="212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62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A5086-93D3-DE3B-FCF0-B84A5BA0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A59C7BA6-E410-30AB-B0E4-66198466EB1A}"/>
              </a:ext>
            </a:extLst>
          </p:cNvPr>
          <p:cNvGrpSpPr/>
          <p:nvPr/>
        </p:nvGrpSpPr>
        <p:grpSpPr>
          <a:xfrm>
            <a:off x="200647" y="173967"/>
            <a:ext cx="3618388" cy="382316"/>
            <a:chOff x="200647" y="173967"/>
            <a:chExt cx="3618388" cy="38231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7E923A33-8015-DD4A-38B4-25A254667712}"/>
                </a:ext>
              </a:extLst>
            </p:cNvPr>
            <p:cNvSpPr txBox="1"/>
            <p:nvPr/>
          </p:nvSpPr>
          <p:spPr>
            <a:xfrm>
              <a:off x="710042" y="180459"/>
              <a:ext cx="3108993" cy="369332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Presentation of the problem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CB4E4DE5-AC0B-4C7B-ACC4-DB7F60AE3099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</p:grpSp>
      <p:sp>
        <p:nvSpPr>
          <p:cNvPr id="9" name="Titre 1">
            <a:extLst>
              <a:ext uri="{FF2B5EF4-FFF2-40B4-BE49-F238E27FC236}">
                <a16:creationId xmlns:a16="http://schemas.microsoft.com/office/drawing/2014/main" id="{319C913B-BC86-38AD-D8EF-2FE4E339D2D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u="sng" dirty="0"/>
              <a:t>Combinatorial Problems</a:t>
            </a:r>
            <a:endParaRPr lang="en-GB" sz="36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ce réservé du contenu 2">
                <a:extLst>
                  <a:ext uri="{FF2B5EF4-FFF2-40B4-BE49-F238E27FC236}">
                    <a16:creationId xmlns:a16="http://schemas.microsoft.com/office/drawing/2014/main" id="{178CD094-3697-550A-89D5-0E229ADA78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3323"/>
                <a:ext cx="10515600" cy="51546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b="1" dirty="0">
                    <a:solidFill>
                      <a:schemeClr val="accent4">
                        <a:lumMod val="75000"/>
                      </a:schemeClr>
                    </a:solidFill>
                  </a:rPr>
                  <a:t>Optimization problem: </a:t>
                </a:r>
                <a:r>
                  <a:rPr lang="en-GB" sz="2400" dirty="0"/>
                  <a:t>minimize a cost function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2400" dirty="0"/>
                  <a:t> in the space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 of allowed configurations</a:t>
                </a:r>
                <a:endParaRPr lang="en-GB" sz="2500" dirty="0"/>
              </a:p>
              <a:p>
                <a:endParaRPr lang="en-GB" sz="2500" dirty="0"/>
              </a:p>
              <a:p>
                <a:endParaRPr lang="en-GB" sz="2500" dirty="0"/>
              </a:p>
              <a:p>
                <a:pPr marL="0" indent="0">
                  <a:buNone/>
                </a:pPr>
                <a:endParaRPr lang="en-GB" sz="2500" dirty="0"/>
              </a:p>
              <a:p>
                <a:pPr marL="0" indent="0">
                  <a:buNone/>
                </a:pPr>
                <a:endParaRPr lang="en-GB" sz="25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GB" sz="2500" b="1" dirty="0">
                    <a:solidFill>
                      <a:schemeClr val="accent5">
                        <a:lumMod val="75000"/>
                      </a:schemeClr>
                    </a:solidFill>
                  </a:rPr>
                  <a:t>QUBO formulation:</a:t>
                </a:r>
              </a:p>
            </p:txBody>
          </p:sp>
        </mc:Choice>
        <mc:Fallback xmlns="">
          <p:sp>
            <p:nvSpPr>
              <p:cNvPr id="14" name="Espace réservé du contenu 2">
                <a:extLst>
                  <a:ext uri="{FF2B5EF4-FFF2-40B4-BE49-F238E27FC236}">
                    <a16:creationId xmlns:a16="http://schemas.microsoft.com/office/drawing/2014/main" id="{178CD094-3697-550A-89D5-0E229ADA78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3323"/>
                <a:ext cx="10515600" cy="5154677"/>
              </a:xfrm>
              <a:blipFill>
                <a:blip r:embed="rId2"/>
                <a:stretch>
                  <a:fillRect l="-986" t="-15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9438B55-EEF5-3B1E-95C3-BA46F51CF728}"/>
                  </a:ext>
                </a:extLst>
              </p:cNvPr>
              <p:cNvSpPr txBox="1"/>
              <p:nvPr/>
            </p:nvSpPr>
            <p:spPr>
              <a:xfrm>
                <a:off x="5377215" y="2327740"/>
                <a:ext cx="1437573" cy="5734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2400" b="0" i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2400" b="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lim>
                          </m:limLow>
                        </m:fName>
                        <m:e>
                          <m:r>
                            <a:rPr lang="fr-FR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9438B55-EEF5-3B1E-95C3-BA46F51CF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215" y="2327740"/>
                <a:ext cx="1437573" cy="573490"/>
              </a:xfrm>
              <a:prstGeom prst="rect">
                <a:avLst/>
              </a:prstGeom>
              <a:blipFill>
                <a:blip r:embed="rId3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B03C0524-76D9-E4FE-CB8D-4F968020BC66}"/>
                  </a:ext>
                </a:extLst>
              </p:cNvPr>
              <p:cNvSpPr txBox="1"/>
              <p:nvPr/>
            </p:nvSpPr>
            <p:spPr>
              <a:xfrm>
                <a:off x="4024984" y="4817833"/>
                <a:ext cx="4142031" cy="11423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fr-FR" sz="24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fr-FR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fr-FR" sz="2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fr-FR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B03C0524-76D9-E4FE-CB8D-4F968020B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984" y="4817833"/>
                <a:ext cx="4142031" cy="11423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45221175-CAA4-A14E-1B39-221024B7DDC9}"/>
                  </a:ext>
                </a:extLst>
              </p:cNvPr>
              <p:cNvSpPr txBox="1"/>
              <p:nvPr/>
            </p:nvSpPr>
            <p:spPr>
              <a:xfrm>
                <a:off x="1166411" y="3150590"/>
                <a:ext cx="9859178" cy="7694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Generally, for graphs, </a:t>
                </a:r>
                <a14:m>
                  <m:oMath xmlns:m="http://schemas.openxmlformats.org/officeDocument/2006/math">
                    <m:r>
                      <a:rPr lang="fr-FR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fr-F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22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fr-F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represents configuration of nodes or edges,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2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fr-F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200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fr-FR" sz="2200" dirty="0">
                  <a:effectLst/>
                </a:endParaRPr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45221175-CAA4-A14E-1B39-221024B7D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411" y="3150590"/>
                <a:ext cx="9859178" cy="769441"/>
              </a:xfrm>
              <a:prstGeom prst="rect">
                <a:avLst/>
              </a:prstGeom>
              <a:blipFill>
                <a:blip r:embed="rId5"/>
                <a:stretch>
                  <a:fillRect l="-741" t="-3906" r="-926" b="-14844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59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F518-F005-ACFF-4C10-B40DB8D7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00CD3F98-0799-2185-A560-08690C5AB344}"/>
              </a:ext>
            </a:extLst>
          </p:cNvPr>
          <p:cNvGrpSpPr/>
          <p:nvPr/>
        </p:nvGrpSpPr>
        <p:grpSpPr>
          <a:xfrm>
            <a:off x="200647" y="173967"/>
            <a:ext cx="3618388" cy="382316"/>
            <a:chOff x="200647" y="173967"/>
            <a:chExt cx="3618388" cy="38231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C70F4DEF-3E0B-86A7-2F64-9C67D630DD5C}"/>
                </a:ext>
              </a:extLst>
            </p:cNvPr>
            <p:cNvSpPr txBox="1"/>
            <p:nvPr/>
          </p:nvSpPr>
          <p:spPr>
            <a:xfrm>
              <a:off x="710042" y="180459"/>
              <a:ext cx="3108993" cy="369332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Presentation of the problem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7F5237ED-2C18-42BD-9DB4-7AC43DDB6C36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</p:grpSp>
      <p:sp>
        <p:nvSpPr>
          <p:cNvPr id="9" name="Titre 1">
            <a:extLst>
              <a:ext uri="{FF2B5EF4-FFF2-40B4-BE49-F238E27FC236}">
                <a16:creationId xmlns:a16="http://schemas.microsoft.com/office/drawing/2014/main" id="{52F90D5E-C04B-0F81-CCAF-A63AA06C638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Example: </a:t>
            </a:r>
            <a:r>
              <a:rPr lang="en-GB" b="1" u="sng" dirty="0"/>
              <a:t>MIS</a:t>
            </a:r>
            <a:br>
              <a:rPr lang="en-GB" b="1" dirty="0"/>
            </a:br>
            <a:r>
              <a:rPr lang="en-GB" sz="3600" b="1" dirty="0"/>
              <a:t>(Maximum Independent Set)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space réservé du contenu 2">
                <a:extLst>
                  <a:ext uri="{FF2B5EF4-FFF2-40B4-BE49-F238E27FC236}">
                    <a16:creationId xmlns:a16="http://schemas.microsoft.com/office/drawing/2014/main" id="{33A2FD22-417C-9E3F-3727-630FD23E95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16578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4">
                        <a:lumMod val="75000"/>
                      </a:schemeClr>
                    </a:solidFill>
                  </a:rPr>
                  <a:t>Definition: </a:t>
                </a:r>
                <a:r>
                  <a:rPr lang="en-US" sz="2400" dirty="0"/>
                  <a:t>Find the </a:t>
                </a:r>
                <a:r>
                  <a:rPr lang="en-US" sz="2400" u="sng" dirty="0"/>
                  <a:t>largest subset </a:t>
                </a:r>
                <a:r>
                  <a:rPr lang="en-US" sz="2400" dirty="0"/>
                  <a:t>W of nodes in a graph such that </a:t>
                </a:r>
                <a:r>
                  <a:rPr lang="en-US" sz="2400" u="sng" dirty="0"/>
                  <a:t>no pair of nodes </a:t>
                </a:r>
                <a:r>
                  <a:rPr lang="en-US" sz="2400" dirty="0"/>
                  <a:t>in the subset </a:t>
                </a:r>
                <a:r>
                  <a:rPr lang="en-US" sz="2400" u="sng" dirty="0"/>
                  <a:t>share an edge</a:t>
                </a:r>
              </a:p>
              <a:p>
                <a:pPr marL="0" indent="0">
                  <a:buNone/>
                </a:pPr>
                <a:endParaRPr lang="en-US" sz="2400" u="sng" dirty="0"/>
              </a:p>
              <a:p>
                <a:pPr marL="0" indent="0">
                  <a:buNone/>
                </a:pPr>
                <a:endParaRPr lang="en-US" sz="2400" u="sng" dirty="0"/>
              </a:p>
              <a:p>
                <a:pPr marL="0" indent="0">
                  <a:buNone/>
                </a:pPr>
                <a:r>
                  <a:rPr lang="en-GB" sz="2400" b="1" dirty="0">
                    <a:solidFill>
                      <a:schemeClr val="accent3">
                        <a:lumMod val="75000"/>
                      </a:schemeClr>
                    </a:solidFill>
                  </a:rPr>
                  <a:t>Formulation:</a:t>
                </a:r>
              </a:p>
              <a:p>
                <a:pPr marL="444500" indent="0">
                  <a:buNone/>
                </a:pPr>
                <a:r>
                  <a:rPr lang="fr-FR" sz="2400" b="1" dirty="0">
                    <a:solidFill>
                      <a:schemeClr val="accent3">
                        <a:lumMod val="75000"/>
                      </a:schemeClr>
                    </a:solidFill>
                  </a:rPr>
                  <a:t>(1) </a:t>
                </a:r>
                <a:r>
                  <a:rPr lang="fr-FR" sz="2400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400" i="1" dirty="0"/>
                  <a:t> </a:t>
                </a:r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fr-FR" sz="2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fr-FR" sz="2400" i="1" dirty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sz="2400" dirty="0"/>
                  <a:t>,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400" dirty="0"/>
              </a:p>
              <a:p>
                <a:pPr marL="444500" indent="0">
                  <a:buNone/>
                </a:pPr>
                <a:r>
                  <a:rPr lang="en-GB" sz="2400" b="1" dirty="0">
                    <a:solidFill>
                      <a:schemeClr val="accent3">
                        <a:lumMod val="75000"/>
                      </a:schemeClr>
                    </a:solidFill>
                  </a:rPr>
                  <a:t>(2) </a:t>
                </a:r>
                <a:r>
                  <a:rPr lang="en-GB" sz="2400" i="1" dirty="0"/>
                  <a:t>QUBO: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FR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sz="2400" dirty="0"/>
              </a:p>
              <a:p>
                <a:pPr marL="444500" indent="0">
                  <a:buNone/>
                </a:pPr>
                <a:r>
                  <a:rPr lang="en-GB" sz="2400" b="1" dirty="0">
                    <a:solidFill>
                      <a:schemeClr val="accent3">
                        <a:lumMod val="75000"/>
                      </a:schemeClr>
                    </a:solidFill>
                  </a:rPr>
                  <a:t>(3)</a:t>
                </a:r>
                <a:r>
                  <a:rPr lang="en-GB" sz="2400" dirty="0">
                    <a:solidFill>
                      <a:schemeClr val="accent3">
                        <a:lumMod val="75000"/>
                      </a:schemeClr>
                    </a:solidFill>
                  </a:rPr>
                  <a:t> </a:t>
                </a:r>
                <a:r>
                  <a:rPr lang="en-GB" sz="2400" i="1" dirty="0"/>
                  <a:t>Allowed space: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fr-FR" sz="2400" i="1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fr-FR" sz="2400" i="1">
                        <a:latin typeface="Cambria Math" panose="02040503050406030204" pitchFamily="18" charset="0"/>
                      </a:rPr>
                      <m:t>  ∀</m:t>
                    </m:r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fr-FR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4" name="Espace réservé du contenu 2">
                <a:extLst>
                  <a:ext uri="{FF2B5EF4-FFF2-40B4-BE49-F238E27FC236}">
                    <a16:creationId xmlns:a16="http://schemas.microsoft.com/office/drawing/2014/main" id="{33A2FD22-417C-9E3F-3727-630FD23E95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16578"/>
                <a:ext cx="10515600" cy="4351338"/>
              </a:xfrm>
              <a:blipFill>
                <a:blip r:embed="rId2"/>
                <a:stretch>
                  <a:fillRect l="-928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e 34">
            <a:extLst>
              <a:ext uri="{FF2B5EF4-FFF2-40B4-BE49-F238E27FC236}">
                <a16:creationId xmlns:a16="http://schemas.microsoft.com/office/drawing/2014/main" id="{2D6DB0FB-56C4-8718-26D7-30EA3FF5350F}"/>
              </a:ext>
            </a:extLst>
          </p:cNvPr>
          <p:cNvGrpSpPr/>
          <p:nvPr/>
        </p:nvGrpSpPr>
        <p:grpSpPr>
          <a:xfrm>
            <a:off x="8238084" y="3102753"/>
            <a:ext cx="3115716" cy="707886"/>
            <a:chOff x="8723358" y="4550230"/>
            <a:chExt cx="3115716" cy="707886"/>
          </a:xfrm>
        </p:grpSpPr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FE466A9D-E478-7BA8-AA9F-A22F38D2CB2B}"/>
                </a:ext>
              </a:extLst>
            </p:cNvPr>
            <p:cNvSpPr txBox="1"/>
            <p:nvPr/>
          </p:nvSpPr>
          <p:spPr>
            <a:xfrm>
              <a:off x="9376767" y="4550230"/>
              <a:ext cx="2462307" cy="70788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2000" b="1" dirty="0"/>
                <a:t>RM </a:t>
              </a:r>
              <a:r>
                <a:rPr lang="nl-NL" sz="2000" b="1" dirty="0" err="1"/>
                <a:t>Karp</a:t>
              </a:r>
              <a:r>
                <a:rPr lang="nl-NL" sz="2000" b="1" dirty="0"/>
                <a:t>, 1972:</a:t>
              </a:r>
              <a:r>
                <a:rPr lang="nl-NL" sz="2000" dirty="0"/>
                <a:t> </a:t>
              </a:r>
              <a:br>
                <a:rPr lang="nl-NL" sz="2000" dirty="0"/>
              </a:br>
              <a:r>
                <a:rPr lang="nl-NL" sz="2000" dirty="0"/>
                <a:t>MIS is NP−complete</a:t>
              </a:r>
              <a:endParaRPr lang="en-GB" sz="2000" dirty="0"/>
            </a:p>
          </p:txBody>
        </p:sp>
        <p:pic>
          <p:nvPicPr>
            <p:cNvPr id="37" name="Image 36" descr="Paper - Free education icons">
              <a:extLst>
                <a:ext uri="{FF2B5EF4-FFF2-40B4-BE49-F238E27FC236}">
                  <a16:creationId xmlns:a16="http://schemas.microsoft.com/office/drawing/2014/main" id="{C9A20095-C8DA-09E0-E726-F61DC9538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3358" y="4653668"/>
              <a:ext cx="501009" cy="501009"/>
            </a:xfrm>
            <a:prstGeom prst="rect">
              <a:avLst/>
            </a:prstGeom>
          </p:spPr>
        </p:pic>
      </p:grpSp>
      <p:pic>
        <p:nvPicPr>
          <p:cNvPr id="39" name="Image 38">
            <a:extLst>
              <a:ext uri="{FF2B5EF4-FFF2-40B4-BE49-F238E27FC236}">
                <a16:creationId xmlns:a16="http://schemas.microsoft.com/office/drawing/2014/main" id="{A4479400-2AFA-95CC-0B5D-3420685185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323" t="50093" r="33228"/>
          <a:stretch>
            <a:fillRect/>
          </a:stretch>
        </p:blipFill>
        <p:spPr>
          <a:xfrm rot="5400000">
            <a:off x="9776817" y="4611093"/>
            <a:ext cx="1746443" cy="171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275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59653-9C59-82B1-B030-A011A105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F77BE14A-AEA0-3CA1-86EE-869559E6D76A}"/>
              </a:ext>
            </a:extLst>
          </p:cNvPr>
          <p:cNvGrpSpPr/>
          <p:nvPr/>
        </p:nvGrpSpPr>
        <p:grpSpPr>
          <a:xfrm>
            <a:off x="200647" y="173967"/>
            <a:ext cx="3618388" cy="382316"/>
            <a:chOff x="200647" y="173967"/>
            <a:chExt cx="3618388" cy="38231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081460D7-0B05-48EE-16A3-049C615CF795}"/>
                </a:ext>
              </a:extLst>
            </p:cNvPr>
            <p:cNvSpPr txBox="1"/>
            <p:nvPr/>
          </p:nvSpPr>
          <p:spPr>
            <a:xfrm>
              <a:off x="710042" y="180459"/>
              <a:ext cx="3108993" cy="369332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Presentation of the problem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454B1EF5-1657-3EF1-E3D6-0C1417401346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</p:grpSp>
      <p:sp>
        <p:nvSpPr>
          <p:cNvPr id="9" name="Titre 1">
            <a:extLst>
              <a:ext uri="{FF2B5EF4-FFF2-40B4-BE49-F238E27FC236}">
                <a16:creationId xmlns:a16="http://schemas.microsoft.com/office/drawing/2014/main" id="{94D6BF7E-FCA3-FB97-8759-81A083BB9ECE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u="sng" dirty="0"/>
              <a:t>Qubit mapping of the problem</a:t>
            </a:r>
            <a:endParaRPr lang="en-GB" sz="36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space réservé du contenu 2">
                <a:extLst>
                  <a:ext uri="{FF2B5EF4-FFF2-40B4-BE49-F238E27FC236}">
                    <a16:creationId xmlns:a16="http://schemas.microsoft.com/office/drawing/2014/main" id="{9FC70150-4BB2-A319-E380-7ED482F9FC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16578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GB" sz="2400" dirty="0"/>
                  <a:t>Encoding of </a:t>
                </a:r>
                <a:r>
                  <a:rPr lang="en-GB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Boolean variables </a:t>
                </a:r>
                <a:r>
                  <a:rPr lang="en-GB" sz="2400" dirty="0"/>
                  <a:t>into </a:t>
                </a:r>
                <a:r>
                  <a:rPr lang="en-GB" sz="2400" b="1" dirty="0">
                    <a:solidFill>
                      <a:schemeClr val="accent4">
                        <a:lumMod val="75000"/>
                      </a:schemeClr>
                    </a:solidFill>
                  </a:rPr>
                  <a:t>qubits</a:t>
                </a:r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endParaRPr lang="en-GB" sz="1200" dirty="0"/>
              </a:p>
              <a:p>
                <a:endParaRPr lang="en-GB" sz="1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en-GB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Ising Hamiltonian:</a:t>
                </a:r>
              </a:p>
              <a:p>
                <a:endParaRPr lang="en-GB" sz="2400" dirty="0"/>
              </a:p>
              <a:p>
                <a:endParaRPr lang="en-GB" sz="2400" dirty="0"/>
              </a:p>
              <a:p>
                <a:endParaRPr lang="en-GB" sz="3500" dirty="0"/>
              </a:p>
              <a:p>
                <a:r>
                  <a:rPr lang="en-GB" sz="2400" b="1" dirty="0"/>
                  <a:t>Goal:</a:t>
                </a:r>
                <a:r>
                  <a:rPr lang="en-GB" sz="2400" dirty="0"/>
                  <a:t> find the ground state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14" name="Espace réservé du contenu 2">
                <a:extLst>
                  <a:ext uri="{FF2B5EF4-FFF2-40B4-BE49-F238E27FC236}">
                    <a16:creationId xmlns:a16="http://schemas.microsoft.com/office/drawing/2014/main" id="{9FC70150-4BB2-A319-E380-7ED482F9FC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16578"/>
                <a:ext cx="10515600" cy="4351338"/>
              </a:xfrm>
              <a:blipFill>
                <a:blip r:embed="rId2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e 9">
            <a:extLst>
              <a:ext uri="{FF2B5EF4-FFF2-40B4-BE49-F238E27FC236}">
                <a16:creationId xmlns:a16="http://schemas.microsoft.com/office/drawing/2014/main" id="{386E73F3-5E65-C9BD-1E35-CEDC9783A212}"/>
              </a:ext>
            </a:extLst>
          </p:cNvPr>
          <p:cNvGrpSpPr/>
          <p:nvPr/>
        </p:nvGrpSpPr>
        <p:grpSpPr>
          <a:xfrm>
            <a:off x="8238084" y="2231746"/>
            <a:ext cx="3115716" cy="1015663"/>
            <a:chOff x="8723358" y="4550230"/>
            <a:chExt cx="3115716" cy="1015663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17B8466F-D66A-4639-ACE4-ABF22D4FD59B}"/>
                </a:ext>
              </a:extLst>
            </p:cNvPr>
            <p:cNvSpPr txBox="1"/>
            <p:nvPr/>
          </p:nvSpPr>
          <p:spPr>
            <a:xfrm>
              <a:off x="9376767" y="4550230"/>
              <a:ext cx="2462307" cy="101566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2000" b="1" dirty="0" err="1"/>
                <a:t>Fahri</a:t>
              </a:r>
              <a:r>
                <a:rPr lang="nl-NL" sz="2000" b="1" dirty="0"/>
                <a:t> et al., 2000:</a:t>
              </a:r>
              <a:r>
                <a:rPr lang="nl-NL" sz="2000" dirty="0"/>
                <a:t> </a:t>
              </a:r>
              <a:br>
                <a:rPr lang="nl-NL" sz="2000" dirty="0"/>
              </a:br>
              <a:r>
                <a:rPr lang="nl-NL" sz="2000" dirty="0" err="1"/>
                <a:t>Adiabatic</a:t>
              </a:r>
              <a:r>
                <a:rPr lang="nl-NL" sz="2000" dirty="0"/>
                <a:t> </a:t>
              </a:r>
              <a:r>
                <a:rPr lang="nl-NL" sz="2000" dirty="0" err="1"/>
                <a:t>evolution</a:t>
              </a:r>
              <a:endParaRPr lang="nl-NL" sz="2000" dirty="0"/>
            </a:p>
            <a:p>
              <a:r>
                <a:rPr lang="nl-NL" sz="2000" dirty="0"/>
                <a:t>3-SAT </a:t>
              </a:r>
              <a:r>
                <a:rPr lang="nl-NL" sz="2000" dirty="0" err="1"/>
                <a:t>problem</a:t>
              </a:r>
              <a:endParaRPr lang="en-GB" sz="2000" dirty="0"/>
            </a:p>
          </p:txBody>
        </p:sp>
        <p:pic>
          <p:nvPicPr>
            <p:cNvPr id="12" name="Image 11" descr="Paper - Free education icons">
              <a:extLst>
                <a:ext uri="{FF2B5EF4-FFF2-40B4-BE49-F238E27FC236}">
                  <a16:creationId xmlns:a16="http://schemas.microsoft.com/office/drawing/2014/main" id="{DFEB18A3-A7D0-9F91-C626-8A35C9CD2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3358" y="4807556"/>
              <a:ext cx="501009" cy="501009"/>
            </a:xfrm>
            <a:prstGeom prst="rect">
              <a:avLst/>
            </a:prstGeom>
          </p:spPr>
        </p:pic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593EAF8C-C438-87FD-0695-1F0D6F1C1E01}"/>
              </a:ext>
            </a:extLst>
          </p:cNvPr>
          <p:cNvGrpSpPr/>
          <p:nvPr/>
        </p:nvGrpSpPr>
        <p:grpSpPr>
          <a:xfrm>
            <a:off x="8238084" y="4049036"/>
            <a:ext cx="3115716" cy="1015663"/>
            <a:chOff x="8723358" y="4550230"/>
            <a:chExt cx="3115716" cy="1015663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00D81DE-8E6B-DC2E-9589-A98FC33021AA}"/>
                </a:ext>
              </a:extLst>
            </p:cNvPr>
            <p:cNvSpPr txBox="1"/>
            <p:nvPr/>
          </p:nvSpPr>
          <p:spPr>
            <a:xfrm>
              <a:off x="9376767" y="4550230"/>
              <a:ext cx="2462307" cy="101566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2000" b="1" dirty="0"/>
                <a:t>A. Lucas, 2014:</a:t>
              </a:r>
              <a:r>
                <a:rPr lang="nl-NL" sz="2000" dirty="0"/>
                <a:t> </a:t>
              </a:r>
              <a:br>
                <a:rPr lang="nl-NL" sz="2000" dirty="0"/>
              </a:br>
              <a:r>
                <a:rPr lang="nl-NL" sz="2000" dirty="0" err="1"/>
                <a:t>Insing</a:t>
              </a:r>
              <a:r>
                <a:rPr lang="nl-NL" sz="2000" dirty="0"/>
                <a:t> </a:t>
              </a:r>
              <a:r>
                <a:rPr lang="nl-NL" sz="2000" dirty="0" err="1"/>
                <a:t>formulation</a:t>
              </a:r>
              <a:r>
                <a:rPr lang="nl-NL" sz="2000" dirty="0"/>
                <a:t> of </a:t>
              </a:r>
              <a:r>
                <a:rPr lang="nl-NL" sz="2000" dirty="0" err="1"/>
                <a:t>many</a:t>
              </a:r>
              <a:r>
                <a:rPr lang="nl-NL" sz="2000" dirty="0"/>
                <a:t> NP </a:t>
              </a:r>
              <a:r>
                <a:rPr lang="nl-NL" sz="2000" dirty="0" err="1"/>
                <a:t>problems</a:t>
              </a:r>
              <a:endParaRPr lang="en-GB" sz="2000" dirty="0"/>
            </a:p>
          </p:txBody>
        </p:sp>
        <p:pic>
          <p:nvPicPr>
            <p:cNvPr id="16" name="Image 15" descr="Paper - Free education icons">
              <a:extLst>
                <a:ext uri="{FF2B5EF4-FFF2-40B4-BE49-F238E27FC236}">
                  <a16:creationId xmlns:a16="http://schemas.microsoft.com/office/drawing/2014/main" id="{7C46BAD9-9151-F508-0E81-10AE38B26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3358" y="4807556"/>
              <a:ext cx="501009" cy="50100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B7090FAD-ED76-8111-CE50-873F8F9608A4}"/>
                  </a:ext>
                </a:extLst>
              </p:cNvPr>
              <p:cNvSpPr txBox="1"/>
              <p:nvPr/>
            </p:nvSpPr>
            <p:spPr>
              <a:xfrm>
                <a:off x="2133474" y="4011217"/>
                <a:ext cx="4581395" cy="968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fr-F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B7090FAD-ED76-8111-CE50-873F8F960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74" y="4011217"/>
                <a:ext cx="4581395" cy="968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5D4EC8D9-78F3-5337-AF74-1E9A933F7C99}"/>
                  </a:ext>
                </a:extLst>
              </p:cNvPr>
              <p:cNvSpPr txBox="1"/>
              <p:nvPr/>
            </p:nvSpPr>
            <p:spPr>
              <a:xfrm>
                <a:off x="8427087" y="5361736"/>
                <a:ext cx="307911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dirty="0"/>
                  <a:t>: spins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dirty="0"/>
                  <a:t>: coupling constant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GB" dirty="0"/>
                  <a:t>: transverse magnetic field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GB" dirty="0"/>
                  <a:t>: Ising energy offset</a:t>
                </a:r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5D4EC8D9-78F3-5337-AF74-1E9A933F7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7087" y="5361736"/>
                <a:ext cx="3079113" cy="1200329"/>
              </a:xfrm>
              <a:prstGeom prst="rect">
                <a:avLst/>
              </a:prstGeom>
              <a:blipFill>
                <a:blip r:embed="rId5"/>
                <a:stretch>
                  <a:fillRect l="-1186" t="-2551" r="-593" b="-81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56760512-7DC7-D7BB-3E44-D38E52D055A6}"/>
                  </a:ext>
                </a:extLst>
              </p:cNvPr>
              <p:cNvSpPr txBox="1"/>
              <p:nvPr/>
            </p:nvSpPr>
            <p:spPr>
              <a:xfrm>
                <a:off x="1735729" y="2739578"/>
                <a:ext cx="51397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fr-FR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fr-FR" sz="2000" i="1">
                          <a:latin typeface="Cambria Math" panose="02040503050406030204" pitchFamily="18" charset="0"/>
                        </a:rPr>
                        <m:t>→|</m:t>
                      </m:r>
                      <m:d>
                        <m:dPr>
                          <m:begChr m:val=""/>
                          <m:endChr m:val="⟩"/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⟩"/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… 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fr-FR" sz="2000" i="1">
                          <a:latin typeface="Cambria Math" panose="02040503050406030204" pitchFamily="18" charset="0"/>
                        </a:rPr>
                        <m:t>∈</m:t>
                      </m:r>
                      <m:sSubSup>
                        <m:sSubSupPr>
                          <m:ctrlP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ℋ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56760512-7DC7-D7BB-3E44-D38E52D0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729" y="2739578"/>
                <a:ext cx="5139740" cy="400110"/>
              </a:xfrm>
              <a:prstGeom prst="rect">
                <a:avLst/>
              </a:prstGeom>
              <a:blipFill>
                <a:blip r:embed="rId6"/>
                <a:stretch>
                  <a:fillRect t="-122727" b="-18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26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3CDB3-0786-DC78-585C-1BAC73C4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E94BEFB6-02AE-372D-C566-1D03E39ABC61}"/>
              </a:ext>
            </a:extLst>
          </p:cNvPr>
          <p:cNvGrpSpPr/>
          <p:nvPr/>
        </p:nvGrpSpPr>
        <p:grpSpPr>
          <a:xfrm>
            <a:off x="200647" y="173967"/>
            <a:ext cx="3618388" cy="382316"/>
            <a:chOff x="200647" y="173967"/>
            <a:chExt cx="3618388" cy="38231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E40609CB-56C3-D673-9774-D055CD437FF8}"/>
                </a:ext>
              </a:extLst>
            </p:cNvPr>
            <p:cNvSpPr txBox="1"/>
            <p:nvPr/>
          </p:nvSpPr>
          <p:spPr>
            <a:xfrm>
              <a:off x="710042" y="180459"/>
              <a:ext cx="3108993" cy="369332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Presentation of the problem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A7BF926C-132A-2D84-C733-1035895B82F2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</p:grpSp>
      <p:sp>
        <p:nvSpPr>
          <p:cNvPr id="9" name="Titre 1">
            <a:extLst>
              <a:ext uri="{FF2B5EF4-FFF2-40B4-BE49-F238E27FC236}">
                <a16:creationId xmlns:a16="http://schemas.microsoft.com/office/drawing/2014/main" id="{4ACDC592-AF22-3F06-AA1D-7B44D07D3B8B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Solution: </a:t>
            </a:r>
            <a:r>
              <a:rPr lang="en-GB" b="1" u="sng" dirty="0"/>
              <a:t>QAOA</a:t>
            </a:r>
            <a:r>
              <a:rPr lang="en-GB" b="1" dirty="0"/>
              <a:t> </a:t>
            </a:r>
            <a:br>
              <a:rPr lang="en-GB" b="1" dirty="0"/>
            </a:br>
            <a:r>
              <a:rPr lang="en-GB" sz="3600" b="1" dirty="0"/>
              <a:t>(Quantum Approximate Optimization Algorithm)</a:t>
            </a:r>
            <a:endParaRPr lang="en-GB" b="1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0BDF1B0-0443-7C21-3470-D036C2EAF9C4}"/>
              </a:ext>
            </a:extLst>
          </p:cNvPr>
          <p:cNvGrpSpPr/>
          <p:nvPr/>
        </p:nvGrpSpPr>
        <p:grpSpPr>
          <a:xfrm>
            <a:off x="568690" y="3075086"/>
            <a:ext cx="11054619" cy="1647232"/>
            <a:chOff x="-2000783" y="4377423"/>
            <a:chExt cx="11054619" cy="1647232"/>
          </a:xfrm>
        </p:grpSpPr>
        <p:cxnSp>
          <p:nvCxnSpPr>
            <p:cNvPr id="3" name="Connecteur droit 2">
              <a:extLst>
                <a:ext uri="{FF2B5EF4-FFF2-40B4-BE49-F238E27FC236}">
                  <a16:creationId xmlns:a16="http://schemas.microsoft.com/office/drawing/2014/main" id="{0D8B04A4-CBCC-42B2-EB2C-4152A9522A93}"/>
                </a:ext>
              </a:extLst>
            </p:cNvPr>
            <p:cNvCxnSpPr/>
            <p:nvPr/>
          </p:nvCxnSpPr>
          <p:spPr>
            <a:xfrm>
              <a:off x="8323310" y="5804778"/>
              <a:ext cx="730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5D389EC3-4D2D-9589-9E63-9518C2409C74}"/>
                </a:ext>
              </a:extLst>
            </p:cNvPr>
            <p:cNvCxnSpPr/>
            <p:nvPr/>
          </p:nvCxnSpPr>
          <p:spPr>
            <a:xfrm>
              <a:off x="8323310" y="5850273"/>
              <a:ext cx="730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7D9BDB78-9ED5-F58E-B18D-9D96CA50E0C4}"/>
                </a:ext>
              </a:extLst>
            </p:cNvPr>
            <p:cNvCxnSpPr/>
            <p:nvPr/>
          </p:nvCxnSpPr>
          <p:spPr>
            <a:xfrm>
              <a:off x="8323310" y="5299771"/>
              <a:ext cx="730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9BAD089F-685B-FDA9-CE25-B9A7C6EF0F25}"/>
                </a:ext>
              </a:extLst>
            </p:cNvPr>
            <p:cNvCxnSpPr/>
            <p:nvPr/>
          </p:nvCxnSpPr>
          <p:spPr>
            <a:xfrm>
              <a:off x="8323310" y="5345266"/>
              <a:ext cx="730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9E3DD0E7-DB1E-9D13-6B78-5A25BAAFEB8F}"/>
                </a:ext>
              </a:extLst>
            </p:cNvPr>
            <p:cNvCxnSpPr/>
            <p:nvPr/>
          </p:nvCxnSpPr>
          <p:spPr>
            <a:xfrm>
              <a:off x="8323310" y="5167010"/>
              <a:ext cx="730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F961AF4B-1D78-4004-EA56-AAC6AEA49261}"/>
                </a:ext>
              </a:extLst>
            </p:cNvPr>
            <p:cNvCxnSpPr/>
            <p:nvPr/>
          </p:nvCxnSpPr>
          <p:spPr>
            <a:xfrm>
              <a:off x="8323310" y="5212505"/>
              <a:ext cx="7305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A3850755-957F-5436-2382-63D539BBB73F}"/>
                </a:ext>
              </a:extLst>
            </p:cNvPr>
            <p:cNvGrpSpPr/>
            <p:nvPr/>
          </p:nvGrpSpPr>
          <p:grpSpPr>
            <a:xfrm>
              <a:off x="-2000783" y="4377423"/>
              <a:ext cx="10533488" cy="1647232"/>
              <a:chOff x="124580" y="4315692"/>
              <a:chExt cx="10533488" cy="1647232"/>
            </a:xfrm>
          </p:grpSpPr>
          <p:grpSp>
            <p:nvGrpSpPr>
              <p:cNvPr id="14" name="Groupe 13">
                <a:extLst>
                  <a:ext uri="{FF2B5EF4-FFF2-40B4-BE49-F238E27FC236}">
                    <a16:creationId xmlns:a16="http://schemas.microsoft.com/office/drawing/2014/main" id="{CDA4B1BA-0855-E7B8-914D-9FB0BBD9F64B}"/>
                  </a:ext>
                </a:extLst>
              </p:cNvPr>
              <p:cNvGrpSpPr/>
              <p:nvPr/>
            </p:nvGrpSpPr>
            <p:grpSpPr>
              <a:xfrm>
                <a:off x="1284079" y="4950088"/>
                <a:ext cx="9373989" cy="1012836"/>
                <a:chOff x="201109" y="3697567"/>
                <a:chExt cx="9373989" cy="1012836"/>
              </a:xfrm>
            </p:grpSpPr>
            <p:cxnSp>
              <p:nvCxnSpPr>
                <p:cNvPr id="21" name="Connecteur droit 20">
                  <a:extLst>
                    <a:ext uri="{FF2B5EF4-FFF2-40B4-BE49-F238E27FC236}">
                      <a16:creationId xmlns:a16="http://schemas.microsoft.com/office/drawing/2014/main" id="{C4E1BC14-C31A-2BE8-EFC3-BDD2E38EBC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1110" y="4525605"/>
                  <a:ext cx="92746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Connecteur droit 21">
                  <a:extLst>
                    <a:ext uri="{FF2B5EF4-FFF2-40B4-BE49-F238E27FC236}">
                      <a16:creationId xmlns:a16="http://schemas.microsoft.com/office/drawing/2014/main" id="{DF64D40C-F85C-4CA3-F8D4-EA224D31B6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1109" y="3861611"/>
                  <a:ext cx="92746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Connecteur droit 22">
                  <a:extLst>
                    <a:ext uri="{FF2B5EF4-FFF2-40B4-BE49-F238E27FC236}">
                      <a16:creationId xmlns:a16="http://schemas.microsoft.com/office/drawing/2014/main" id="{3766F48C-9EBC-AD81-C017-086C56194D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1109" y="4008500"/>
                  <a:ext cx="92746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Rectangle : coins arrondis 23">
                      <a:extLst>
                        <a:ext uri="{FF2B5EF4-FFF2-40B4-BE49-F238E27FC236}">
                          <a16:creationId xmlns:a16="http://schemas.microsoft.com/office/drawing/2014/main" id="{27A03191-065E-93E0-65F5-B019683ED2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2774" y="3697567"/>
                      <a:ext cx="1259256" cy="1012836"/>
                    </a:xfrm>
                    <a:prstGeom prst="roundRect">
                      <a:avLst>
                        <a:gd name="adj" fmla="val 6426"/>
                      </a:avLst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</a:rPr>
                        <a:t>Cost layer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1600" b="1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4" name="Rectangle : coins arrondis 83">
                      <a:extLst>
                        <a:ext uri="{FF2B5EF4-FFF2-40B4-BE49-F238E27FC236}">
                          <a16:creationId xmlns:a16="http://schemas.microsoft.com/office/drawing/2014/main" id="{09B143A4-F7E2-9AD4-9079-D68B6500418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02774" y="3697567"/>
                      <a:ext cx="1259256" cy="1012836"/>
                    </a:xfrm>
                    <a:prstGeom prst="roundRect">
                      <a:avLst>
                        <a:gd name="adj" fmla="val 6426"/>
                      </a:avLst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Rectangle : coins arrondis 24">
                      <a:extLst>
                        <a:ext uri="{FF2B5EF4-FFF2-40B4-BE49-F238E27FC236}">
                          <a16:creationId xmlns:a16="http://schemas.microsoft.com/office/drawing/2014/main" id="{DB049661-CEB5-CF3C-FA88-42DBA92015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73942" y="3697567"/>
                      <a:ext cx="1259256" cy="1012836"/>
                    </a:xfrm>
                    <a:prstGeom prst="roundRect">
                      <a:avLst>
                        <a:gd name="adj" fmla="val 6426"/>
                      </a:avLst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</a:rPr>
                        <a:t>Mixer layer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1600" b="1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5" name="Rectangle : coins arrondis 84">
                      <a:extLst>
                        <a:ext uri="{FF2B5EF4-FFF2-40B4-BE49-F238E27FC236}">
                          <a16:creationId xmlns:a16="http://schemas.microsoft.com/office/drawing/2014/main" id="{5AA17E95-7591-84EE-7621-4B6DFBB3723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73942" y="3697567"/>
                      <a:ext cx="1259256" cy="1012836"/>
                    </a:xfrm>
                    <a:prstGeom prst="roundRect">
                      <a:avLst>
                        <a:gd name="adj" fmla="val 6426"/>
                      </a:avLst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6" name="Groupe 25">
                  <a:extLst>
                    <a:ext uri="{FF2B5EF4-FFF2-40B4-BE49-F238E27FC236}">
                      <a16:creationId xmlns:a16="http://schemas.microsoft.com/office/drawing/2014/main" id="{39823DA1-D85B-2178-102F-DC8F0EBB64BE}"/>
                    </a:ext>
                  </a:extLst>
                </p:cNvPr>
                <p:cNvGrpSpPr/>
                <p:nvPr/>
              </p:nvGrpSpPr>
              <p:grpSpPr>
                <a:xfrm>
                  <a:off x="8315842" y="3697567"/>
                  <a:ext cx="1259256" cy="1012836"/>
                  <a:chOff x="4196834" y="3697567"/>
                  <a:chExt cx="1259256" cy="1012836"/>
                </a:xfrm>
                <a:solidFill>
                  <a:schemeClr val="bg2">
                    <a:lumMod val="90000"/>
                  </a:schemeClr>
                </a:solidFill>
              </p:grpSpPr>
              <p:sp>
                <p:nvSpPr>
                  <p:cNvPr id="29" name="Rectangle : coins arrondis 28">
                    <a:extLst>
                      <a:ext uri="{FF2B5EF4-FFF2-40B4-BE49-F238E27FC236}">
                        <a16:creationId xmlns:a16="http://schemas.microsoft.com/office/drawing/2014/main" id="{ED2D78DF-F8A4-A2C1-B79F-B765E8C4D48C}"/>
                      </a:ext>
                    </a:extLst>
                  </p:cNvPr>
                  <p:cNvSpPr/>
                  <p:nvPr/>
                </p:nvSpPr>
                <p:spPr>
                  <a:xfrm>
                    <a:off x="4196834" y="3697567"/>
                    <a:ext cx="1259256" cy="1012836"/>
                  </a:xfrm>
                  <a:prstGeom prst="roundRect">
                    <a:avLst>
                      <a:gd name="adj" fmla="val 6426"/>
                    </a:avLst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200" b="1" dirty="0">
                      <a:solidFill>
                        <a:sysClr val="windowText" lastClr="000000"/>
                      </a:solidFill>
                    </a:endParaRPr>
                  </a:p>
                  <a:p>
                    <a:pPr algn="ctr"/>
                    <a:endParaRPr lang="fr-FR" sz="1200" b="1" dirty="0">
                      <a:solidFill>
                        <a:sysClr val="windowText" lastClr="000000"/>
                      </a:solidFill>
                    </a:endParaRPr>
                  </a:p>
                  <a:p>
                    <a:pPr algn="ctr"/>
                    <a:r>
                      <a:rPr lang="fr-FR" sz="1200" b="1" dirty="0" err="1">
                        <a:solidFill>
                          <a:sysClr val="windowText" lastClr="000000"/>
                        </a:solidFill>
                      </a:rPr>
                      <a:t>Measurement</a:t>
                    </a:r>
                    <a:endParaRPr lang="en-GB" sz="1200" b="1" dirty="0">
                      <a:solidFill>
                        <a:sysClr val="windowText" lastClr="000000"/>
                      </a:solidFill>
                    </a:endParaRPr>
                  </a:p>
                </p:txBody>
              </p:sp>
              <p:grpSp>
                <p:nvGrpSpPr>
                  <p:cNvPr id="30" name="Groupe 29">
                    <a:extLst>
                      <a:ext uri="{FF2B5EF4-FFF2-40B4-BE49-F238E27FC236}">
                        <a16:creationId xmlns:a16="http://schemas.microsoft.com/office/drawing/2014/main" id="{A3D00207-A01A-C590-9E33-3CEBD975D24B}"/>
                      </a:ext>
                    </a:extLst>
                  </p:cNvPr>
                  <p:cNvGrpSpPr/>
                  <p:nvPr/>
                </p:nvGrpSpPr>
                <p:grpSpPr>
                  <a:xfrm>
                    <a:off x="4611683" y="3921685"/>
                    <a:ext cx="477775" cy="464213"/>
                    <a:chOff x="10340561" y="5420856"/>
                    <a:chExt cx="477775" cy="464213"/>
                  </a:xfrm>
                  <a:grpFill/>
                </p:grpSpPr>
                <p:sp>
                  <p:nvSpPr>
                    <p:cNvPr id="31" name="Ellipse 30">
                      <a:extLst>
                        <a:ext uri="{FF2B5EF4-FFF2-40B4-BE49-F238E27FC236}">
                          <a16:creationId xmlns:a16="http://schemas.microsoft.com/office/drawing/2014/main" id="{6D7C2DBF-1214-2DF7-BBCD-F65E114EA3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31875" y="5631401"/>
                      <a:ext cx="50307" cy="50307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32" name="Arc 31">
                      <a:extLst>
                        <a:ext uri="{FF2B5EF4-FFF2-40B4-BE49-F238E27FC236}">
                          <a16:creationId xmlns:a16="http://schemas.microsoft.com/office/drawing/2014/main" id="{94859FDA-6096-46C6-A660-EC60D00CD2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40561" y="5436033"/>
                      <a:ext cx="449036" cy="449036"/>
                    </a:xfrm>
                    <a:prstGeom prst="arc">
                      <a:avLst>
                        <a:gd name="adj1" fmla="val 10931481"/>
                        <a:gd name="adj2" fmla="val 0"/>
                      </a:avLst>
                    </a:prstGeom>
                    <a:grpFill/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/>
                    </a:p>
                  </p:txBody>
                </p:sp>
                <p:cxnSp>
                  <p:nvCxnSpPr>
                    <p:cNvPr id="33" name="Connecteur droit avec flèche 32">
                      <a:extLst>
                        <a:ext uri="{FF2B5EF4-FFF2-40B4-BE49-F238E27FC236}">
                          <a16:creationId xmlns:a16="http://schemas.microsoft.com/office/drawing/2014/main" id="{010D574D-F348-970B-09D8-2087268371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552473" y="5420856"/>
                      <a:ext cx="265863" cy="237644"/>
                    </a:xfrm>
                    <a:prstGeom prst="straightConnector1">
                      <a:avLst/>
                    </a:prstGeom>
                    <a:grpFill/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Rectangle : coins arrondis 26">
                      <a:extLst>
                        <a:ext uri="{FF2B5EF4-FFF2-40B4-BE49-F238E27FC236}">
                          <a16:creationId xmlns:a16="http://schemas.microsoft.com/office/drawing/2014/main" id="{30B7D4BB-BEF3-3EDF-C2A8-367223A4A4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28510" y="3697567"/>
                      <a:ext cx="1259256" cy="1012836"/>
                    </a:xfrm>
                    <a:prstGeom prst="roundRect">
                      <a:avLst>
                        <a:gd name="adj" fmla="val 6426"/>
                      </a:avLst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</a:rPr>
                        <a:t>Cost layer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1600" b="1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0" name="Rectangle : coins arrondis 99">
                      <a:extLst>
                        <a:ext uri="{FF2B5EF4-FFF2-40B4-BE49-F238E27FC236}">
                          <a16:creationId xmlns:a16="http://schemas.microsoft.com/office/drawing/2014/main" id="{E06AD4E7-7A18-9F63-7CB4-8090C0BDEC1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028510" y="3697567"/>
                      <a:ext cx="1259256" cy="1012836"/>
                    </a:xfrm>
                    <a:prstGeom prst="roundRect">
                      <a:avLst>
                        <a:gd name="adj" fmla="val 6426"/>
                      </a:avLst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Rectangle : coins arrondis 27">
                      <a:extLst>
                        <a:ext uri="{FF2B5EF4-FFF2-40B4-BE49-F238E27FC236}">
                          <a16:creationId xmlns:a16="http://schemas.microsoft.com/office/drawing/2014/main" id="{DD058512-4A08-A22A-C88E-B38D2C4CF8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9678" y="3697567"/>
                      <a:ext cx="1259256" cy="1012836"/>
                    </a:xfrm>
                    <a:prstGeom prst="roundRect">
                      <a:avLst>
                        <a:gd name="adj" fmla="val 6426"/>
                      </a:avLst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sz="1600" b="1" dirty="0">
                          <a:solidFill>
                            <a:sysClr val="windowText" lastClr="000000"/>
                          </a:solidFill>
                        </a:rPr>
                        <a:t>Mixer layer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lang="fr-FR" sz="1600" b="1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</m:sub>
                            </m:sSub>
                          </m:oMath>
                        </m:oMathPara>
                      </a14:m>
                      <a:endParaRPr lang="en-GB" sz="1600" b="1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1" name="Rectangle : coins arrondis 100">
                      <a:extLst>
                        <a:ext uri="{FF2B5EF4-FFF2-40B4-BE49-F238E27FC236}">
                          <a16:creationId xmlns:a16="http://schemas.microsoft.com/office/drawing/2014/main" id="{21F89985-F103-F754-65CC-404E7EF05E1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99678" y="3697567"/>
                      <a:ext cx="1259256" cy="1012836"/>
                    </a:xfrm>
                    <a:prstGeom prst="roundRect">
                      <a:avLst>
                        <a:gd name="adj" fmla="val 6426"/>
                      </a:avLst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ZoneTexte 14">
                    <a:extLst>
                      <a:ext uri="{FF2B5EF4-FFF2-40B4-BE49-F238E27FC236}">
                        <a16:creationId xmlns:a16="http://schemas.microsoft.com/office/drawing/2014/main" id="{EA0A8222-524B-4172-BBCA-56FF9DE1755E}"/>
                      </a:ext>
                    </a:extLst>
                  </p:cNvPr>
                  <p:cNvSpPr txBox="1"/>
                  <p:nvPr/>
                </p:nvSpPr>
                <p:spPr>
                  <a:xfrm>
                    <a:off x="124580" y="5220969"/>
                    <a:ext cx="1326954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d>
                            <m:dPr>
                              <m:begChr m:val=""/>
                              <m:endChr m:val="⟩"/>
                              <m:ctrlPr>
                                <a:rPr lang="fr-FR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𝝍</m:t>
                              </m:r>
                            </m:e>
                          </m:d>
                        </m:oMath>
                      </m:oMathPara>
                    </a14:m>
                    <a:endParaRPr lang="en-GB" sz="2000" b="1" dirty="0"/>
                  </a:p>
                </p:txBody>
              </p:sp>
            </mc:Choice>
            <mc:Fallback xmlns="">
              <p:sp>
                <p:nvSpPr>
                  <p:cNvPr id="104" name="ZoneTexte 103">
                    <a:extLst>
                      <a:ext uri="{FF2B5EF4-FFF2-40B4-BE49-F238E27FC236}">
                        <a16:creationId xmlns:a16="http://schemas.microsoft.com/office/drawing/2014/main" id="{DFCE14D3-81BE-D389-DAC6-647DDC4C75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580" y="5220969"/>
                    <a:ext cx="1326954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122727" r="-11009" b="-18181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D8A3CFA7-446E-CB33-3ED4-F85E8E1377FF}"/>
                  </a:ext>
                </a:extLst>
              </p:cNvPr>
              <p:cNvSpPr txBox="1"/>
              <p:nvPr/>
            </p:nvSpPr>
            <p:spPr>
              <a:xfrm rot="16200000">
                <a:off x="1498893" y="5348187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solidFill>
                      <a:schemeClr val="accent5">
                        <a:lumMod val="75000"/>
                      </a:schemeClr>
                    </a:solidFill>
                  </a:rPr>
                  <a:t>…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ZoneTexte 16">
                    <a:extLst>
                      <a:ext uri="{FF2B5EF4-FFF2-40B4-BE49-F238E27FC236}">
                        <a16:creationId xmlns:a16="http://schemas.microsoft.com/office/drawing/2014/main" id="{C386CD4C-8387-47AC-5F57-C7F8E0E71498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1244998" y="5363841"/>
                    <a:ext cx="529119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fr-FR" sz="1400" b="1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fr-FR" sz="1400" b="1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06" name="ZoneTexte 105">
                    <a:extLst>
                      <a:ext uri="{FF2B5EF4-FFF2-40B4-BE49-F238E27FC236}">
                        <a16:creationId xmlns:a16="http://schemas.microsoft.com/office/drawing/2014/main" id="{F38B473B-60C2-0A16-F77A-2C7A45C976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1244998" y="5363841"/>
                    <a:ext cx="529119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5882" t="-6977" r="-1764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ZoneTexte 17">
                    <a:extLst>
                      <a:ext uri="{FF2B5EF4-FFF2-40B4-BE49-F238E27FC236}">
                        <a16:creationId xmlns:a16="http://schemas.microsoft.com/office/drawing/2014/main" id="{58D7DF8A-104B-71D7-D070-278002FD1416}"/>
                      </a:ext>
                    </a:extLst>
                  </p:cNvPr>
                  <p:cNvSpPr txBox="1"/>
                  <p:nvPr/>
                </p:nvSpPr>
                <p:spPr>
                  <a:xfrm>
                    <a:off x="5169504" y="4315692"/>
                    <a:ext cx="505075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fr-FR" sz="1400" b="1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fr-FR" sz="1400" b="1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107" name="ZoneTexte 106">
                    <a:extLst>
                      <a:ext uri="{FF2B5EF4-FFF2-40B4-BE49-F238E27FC236}">
                        <a16:creationId xmlns:a16="http://schemas.microsoft.com/office/drawing/2014/main" id="{B71888A6-0344-A521-971B-E30F451A05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69504" y="4315692"/>
                    <a:ext cx="505075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6000" r="-7229"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Accolade ouvrante 18">
                <a:extLst>
                  <a:ext uri="{FF2B5EF4-FFF2-40B4-BE49-F238E27FC236}">
                    <a16:creationId xmlns:a16="http://schemas.microsoft.com/office/drawing/2014/main" id="{976947B5-AD96-4C90-CBC8-7C5BC2B274E0}"/>
                  </a:ext>
                </a:extLst>
              </p:cNvPr>
              <p:cNvSpPr/>
              <p:nvPr/>
            </p:nvSpPr>
            <p:spPr>
              <a:xfrm rot="5400000">
                <a:off x="5289537" y="1332992"/>
                <a:ext cx="254362" cy="6856161"/>
              </a:xfrm>
              <a:prstGeom prst="leftBrace">
                <a:avLst>
                  <a:gd name="adj1" fmla="val 124121"/>
                  <a:gd name="adj2" fmla="val 50000"/>
                </a:avLst>
              </a:pr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0" name="Accolade ouvrante 19">
                <a:extLst>
                  <a:ext uri="{FF2B5EF4-FFF2-40B4-BE49-F238E27FC236}">
                    <a16:creationId xmlns:a16="http://schemas.microsoft.com/office/drawing/2014/main" id="{4D03F1E5-75ED-E73D-4F3F-96830137B86E}"/>
                  </a:ext>
                </a:extLst>
              </p:cNvPr>
              <p:cNvSpPr/>
              <p:nvPr/>
            </p:nvSpPr>
            <p:spPr>
              <a:xfrm>
                <a:off x="1113136" y="5051061"/>
                <a:ext cx="116635" cy="767992"/>
              </a:xfrm>
              <a:prstGeom prst="leftBrace">
                <a:avLst>
                  <a:gd name="adj1" fmla="val 124121"/>
                  <a:gd name="adj2" fmla="val 50000"/>
                </a:avLst>
              </a:pr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7C7EFF5A-1A97-21BC-8BBE-4FEACB3A4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6578"/>
            <a:ext cx="10515600" cy="4351338"/>
          </a:xfrm>
        </p:spPr>
        <p:txBody>
          <a:bodyPr/>
          <a:lstStyle/>
          <a:p>
            <a:r>
              <a:rPr lang="en-GB" dirty="0"/>
              <a:t>Inspired by quantum annealing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E9299BBE-2EE7-2FAA-44A9-AD207681E5CF}"/>
              </a:ext>
            </a:extLst>
          </p:cNvPr>
          <p:cNvGrpSpPr/>
          <p:nvPr/>
        </p:nvGrpSpPr>
        <p:grpSpPr>
          <a:xfrm>
            <a:off x="8285064" y="2394477"/>
            <a:ext cx="3115716" cy="501009"/>
            <a:chOff x="8723358" y="4807556"/>
            <a:chExt cx="3115716" cy="501009"/>
          </a:xfrm>
        </p:grpSpPr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617B6BDB-C8D9-F7BB-23E8-1FB503A09837}"/>
                </a:ext>
              </a:extLst>
            </p:cNvPr>
            <p:cNvSpPr txBox="1"/>
            <p:nvPr/>
          </p:nvSpPr>
          <p:spPr>
            <a:xfrm>
              <a:off x="9376767" y="4825964"/>
              <a:ext cx="2462307" cy="40011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2000" b="1" dirty="0" err="1"/>
                <a:t>Fahri</a:t>
              </a:r>
              <a:r>
                <a:rPr lang="nl-NL" sz="2000" b="1" dirty="0"/>
                <a:t> et al., 2014</a:t>
              </a:r>
              <a:endParaRPr lang="en-GB" sz="2000" dirty="0"/>
            </a:p>
          </p:txBody>
        </p:sp>
        <p:pic>
          <p:nvPicPr>
            <p:cNvPr id="37" name="Image 36" descr="Paper - Free education icons">
              <a:extLst>
                <a:ext uri="{FF2B5EF4-FFF2-40B4-BE49-F238E27FC236}">
                  <a16:creationId xmlns:a16="http://schemas.microsoft.com/office/drawing/2014/main" id="{2C98B09A-8B35-7EBA-A56C-B3BAD01EB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723358" y="4807556"/>
              <a:ext cx="501009" cy="5010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758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30517-744C-E426-0C38-74A45BDF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47AF355-6F45-1456-EE0F-4468B59223E8}"/>
              </a:ext>
            </a:extLst>
          </p:cNvPr>
          <p:cNvGrpSpPr/>
          <p:nvPr/>
        </p:nvGrpSpPr>
        <p:grpSpPr>
          <a:xfrm>
            <a:off x="200647" y="173967"/>
            <a:ext cx="3618388" cy="382316"/>
            <a:chOff x="200647" y="173967"/>
            <a:chExt cx="3618388" cy="38231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13ABAB98-08FB-7750-AAC9-F6E97D7F06DD}"/>
                </a:ext>
              </a:extLst>
            </p:cNvPr>
            <p:cNvSpPr txBox="1"/>
            <p:nvPr/>
          </p:nvSpPr>
          <p:spPr>
            <a:xfrm>
              <a:off x="710042" y="180459"/>
              <a:ext cx="3108993" cy="369332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Presentation of the problem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6027FE7B-F2DA-19E1-4EB7-C3B67C071367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</p:grpSp>
      <p:sp>
        <p:nvSpPr>
          <p:cNvPr id="9" name="Titre 1">
            <a:extLst>
              <a:ext uri="{FF2B5EF4-FFF2-40B4-BE49-F238E27FC236}">
                <a16:creationId xmlns:a16="http://schemas.microsoft.com/office/drawing/2014/main" id="{FA3D773E-2245-B18D-B6D3-C71EDD37B70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QAOA for MIS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Espace réservé du contenu 38">
                <a:extLst>
                  <a:ext uri="{FF2B5EF4-FFF2-40B4-BE49-F238E27FC236}">
                    <a16:creationId xmlns:a16="http://schemas.microsoft.com/office/drawing/2014/main" id="{4973B7B9-FD7A-C656-C1FC-B98DB8FBA6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b="1" dirty="0">
                    <a:solidFill>
                      <a:schemeClr val="accent3">
                        <a:lumMod val="75000"/>
                      </a:schemeClr>
                    </a:solidFill>
                  </a:rPr>
                  <a:t>Ising Hamiltonian for MIS</a:t>
                </a:r>
                <a:r>
                  <a:rPr lang="en-GB" sz="2400" dirty="0">
                    <a:solidFill>
                      <a:schemeClr val="accent3">
                        <a:lumMod val="75000"/>
                      </a:schemeClr>
                    </a:solidFill>
                  </a:rPr>
                  <a:t> </a:t>
                </a:r>
                <a:r>
                  <a:rPr lang="en-GB" sz="2400" dirty="0"/>
                  <a:t>(</a:t>
                </a:r>
                <a:r>
                  <a:rPr lang="en-GB" sz="2400" dirty="0" err="1"/>
                  <a:t>penalizer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sz="2400" dirty="0"/>
                  <a:t>):</a:t>
                </a:r>
              </a:p>
            </p:txBody>
          </p:sp>
        </mc:Choice>
        <mc:Fallback xmlns="">
          <p:sp>
            <p:nvSpPr>
              <p:cNvPr id="39" name="Espace réservé du contenu 38">
                <a:extLst>
                  <a:ext uri="{FF2B5EF4-FFF2-40B4-BE49-F238E27FC236}">
                    <a16:creationId xmlns:a16="http://schemas.microsoft.com/office/drawing/2014/main" id="{4973B7B9-FD7A-C656-C1FC-B98DB8FBA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8B31B4CA-2BB7-8642-3C06-15BD3807673F}"/>
                  </a:ext>
                </a:extLst>
              </p:cNvPr>
              <p:cNvSpPr txBox="1"/>
              <p:nvPr/>
            </p:nvSpPr>
            <p:spPr>
              <a:xfrm>
                <a:off x="3047082" y="2356802"/>
                <a:ext cx="6097836" cy="968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f>
                                <m:f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800" dirty="0"/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8B31B4CA-2BB7-8642-3C06-15BD38076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082" y="2356802"/>
                <a:ext cx="6097836" cy="9689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e 41">
            <a:extLst>
              <a:ext uri="{FF2B5EF4-FFF2-40B4-BE49-F238E27FC236}">
                <a16:creationId xmlns:a16="http://schemas.microsoft.com/office/drawing/2014/main" id="{BC589F8C-EA18-8CE6-6597-309966E442C9}"/>
              </a:ext>
            </a:extLst>
          </p:cNvPr>
          <p:cNvGrpSpPr/>
          <p:nvPr/>
        </p:nvGrpSpPr>
        <p:grpSpPr>
          <a:xfrm>
            <a:off x="8564656" y="1788067"/>
            <a:ext cx="3115716" cy="501009"/>
            <a:chOff x="8723358" y="4517572"/>
            <a:chExt cx="3115716" cy="501009"/>
          </a:xfrm>
        </p:grpSpPr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4F007536-E753-0F1B-2077-248DA08B09A2}"/>
                </a:ext>
              </a:extLst>
            </p:cNvPr>
            <p:cNvSpPr txBox="1"/>
            <p:nvPr/>
          </p:nvSpPr>
          <p:spPr>
            <a:xfrm>
              <a:off x="9376767" y="4550230"/>
              <a:ext cx="2462307" cy="40011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NL" sz="2000" b="1" dirty="0"/>
                <a:t>A. Lucas, 2014</a:t>
              </a:r>
              <a:endParaRPr lang="en-GB" sz="2000" dirty="0"/>
            </a:p>
          </p:txBody>
        </p:sp>
        <p:pic>
          <p:nvPicPr>
            <p:cNvPr id="44" name="Image 43" descr="Paper - Free education icons">
              <a:extLst>
                <a:ext uri="{FF2B5EF4-FFF2-40B4-BE49-F238E27FC236}">
                  <a16:creationId xmlns:a16="http://schemas.microsoft.com/office/drawing/2014/main" id="{B3FD42F5-B92A-164A-601B-9766A04AD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23358" y="4517572"/>
              <a:ext cx="501009" cy="50100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E68E3232-C7A3-5436-A759-1BB97F805815}"/>
                  </a:ext>
                </a:extLst>
              </p:cNvPr>
              <p:cNvSpPr txBox="1"/>
              <p:nvPr/>
            </p:nvSpPr>
            <p:spPr>
              <a:xfrm>
                <a:off x="1166411" y="3644015"/>
                <a:ext cx="9859178" cy="7694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If two nodes in 𝑊 are connected,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200" dirty="0"/>
                  <a:t> ensures that keeping both is suboptimal compared to removing one</a:t>
                </a:r>
                <a:endParaRPr lang="fr-FR" sz="2200" dirty="0">
                  <a:effectLst/>
                </a:endParaRPr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E68E3232-C7A3-5436-A759-1BB97F805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411" y="3644015"/>
                <a:ext cx="9859178" cy="769441"/>
              </a:xfrm>
              <a:prstGeom prst="rect">
                <a:avLst/>
              </a:prstGeom>
              <a:blipFill>
                <a:blip r:embed="rId5"/>
                <a:stretch>
                  <a:fillRect l="-741" t="-6250" b="-14063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154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FE99E-C691-B314-DEE5-E97FCD82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A3704540-46CF-8007-EC3C-3FF7E2162625}"/>
              </a:ext>
            </a:extLst>
          </p:cNvPr>
          <p:cNvGrpSpPr/>
          <p:nvPr/>
        </p:nvGrpSpPr>
        <p:grpSpPr>
          <a:xfrm>
            <a:off x="200647" y="173967"/>
            <a:ext cx="3618388" cy="382316"/>
            <a:chOff x="200647" y="173967"/>
            <a:chExt cx="3618388" cy="38231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4BADAC7E-0130-B21B-AD46-9A9AE4DE8C9E}"/>
                </a:ext>
              </a:extLst>
            </p:cNvPr>
            <p:cNvSpPr txBox="1"/>
            <p:nvPr/>
          </p:nvSpPr>
          <p:spPr>
            <a:xfrm>
              <a:off x="710042" y="180459"/>
              <a:ext cx="3108993" cy="369332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Presentation of the problem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73FD9E98-A0D4-959D-E484-6B9169D08FE2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</p:grpSp>
      <p:sp>
        <p:nvSpPr>
          <p:cNvPr id="9" name="Titre 1">
            <a:extLst>
              <a:ext uri="{FF2B5EF4-FFF2-40B4-BE49-F238E27FC236}">
                <a16:creationId xmlns:a16="http://schemas.microsoft.com/office/drawing/2014/main" id="{20D71566-5D93-D59A-0D24-C3D06A63E349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Caveats of QVAs</a:t>
            </a:r>
          </a:p>
        </p:txBody>
      </p:sp>
      <p:sp>
        <p:nvSpPr>
          <p:cNvPr id="39" name="Espace réservé du contenu 38">
            <a:extLst>
              <a:ext uri="{FF2B5EF4-FFF2-40B4-BE49-F238E27FC236}">
                <a16:creationId xmlns:a16="http://schemas.microsoft.com/office/drawing/2014/main" id="{108F6A93-D36A-ABD5-F638-A4D671938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Local minima</a:t>
            </a:r>
          </a:p>
          <a:p>
            <a:pPr marL="0" indent="0">
              <a:buNone/>
            </a:pPr>
            <a:endParaRPr lang="fr-FR" sz="2400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chemeClr val="accent3">
                    <a:lumMod val="75000"/>
                  </a:schemeClr>
                </a:solidFill>
              </a:rPr>
              <a:t>Barren </a:t>
            </a:r>
            <a:r>
              <a:rPr lang="fr-FR" sz="2400" b="1" dirty="0" err="1">
                <a:solidFill>
                  <a:schemeClr val="accent3">
                    <a:lumMod val="75000"/>
                  </a:schemeClr>
                </a:solidFill>
              </a:rPr>
              <a:t>plateaus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24516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9F2BF-0005-908E-6325-060E5DB2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A69D5B-5B5A-8730-0AAA-6F169A15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Standard QAOA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D12EC2-768F-638D-B007-21E46E57C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1FD9648E-109E-F4C9-69FD-929D03EE0E23}"/>
              </a:ext>
            </a:extLst>
          </p:cNvPr>
          <p:cNvGrpSpPr/>
          <p:nvPr/>
        </p:nvGrpSpPr>
        <p:grpSpPr>
          <a:xfrm>
            <a:off x="200647" y="173967"/>
            <a:ext cx="2286420" cy="382316"/>
            <a:chOff x="200647" y="173967"/>
            <a:chExt cx="2286420" cy="38231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630854D3-BB3C-0095-9779-9908C4FA50DA}"/>
                </a:ext>
              </a:extLst>
            </p:cNvPr>
            <p:cNvSpPr txBox="1"/>
            <p:nvPr/>
          </p:nvSpPr>
          <p:spPr>
            <a:xfrm>
              <a:off x="710042" y="180459"/>
              <a:ext cx="1777025" cy="369332"/>
            </a:xfrm>
            <a:prstGeom prst="rect">
              <a:avLst/>
            </a:prstGeom>
            <a:grp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QAOA methods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BECB4EF-1DA6-91D2-8EB9-67B6BA05A6D9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6054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3D0F-2969-88D4-6DBB-3D06884A7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B75B27-8AF5-8C2C-E048-5FDA3968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Constrained QAOA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FDDA8D-F330-F8C2-432D-D51EB002B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2BBCA7E5-2E0A-574D-2D50-360D8FB591EC}"/>
              </a:ext>
            </a:extLst>
          </p:cNvPr>
          <p:cNvGrpSpPr/>
          <p:nvPr/>
        </p:nvGrpSpPr>
        <p:grpSpPr>
          <a:xfrm>
            <a:off x="200647" y="173967"/>
            <a:ext cx="2286420" cy="382316"/>
            <a:chOff x="200647" y="173967"/>
            <a:chExt cx="2286420" cy="38231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47BF4D3A-815E-4AF3-109C-05315FCD4E8E}"/>
                </a:ext>
              </a:extLst>
            </p:cNvPr>
            <p:cNvSpPr txBox="1"/>
            <p:nvPr/>
          </p:nvSpPr>
          <p:spPr>
            <a:xfrm>
              <a:off x="710042" y="180459"/>
              <a:ext cx="1777025" cy="369332"/>
            </a:xfrm>
            <a:prstGeom prst="rect">
              <a:avLst/>
            </a:prstGeom>
            <a:grp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QAOA methods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E533003-76B5-EDF0-26BA-2531F5ACCDE2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6124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FDD78-5195-D9EA-C5C8-C2F06CAC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604679-DA55-8E80-568E-B24700D6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Warm start (WS-QAOA)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8210F4-B00C-87D6-DFA0-2CC71A8D3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EEC99648-4D77-0AB0-0AD4-8A8816F7D44F}"/>
              </a:ext>
            </a:extLst>
          </p:cNvPr>
          <p:cNvGrpSpPr/>
          <p:nvPr/>
        </p:nvGrpSpPr>
        <p:grpSpPr>
          <a:xfrm>
            <a:off x="200647" y="173967"/>
            <a:ext cx="2286420" cy="382316"/>
            <a:chOff x="200647" y="173967"/>
            <a:chExt cx="2286420" cy="38231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2CAC9BED-1941-1F0C-C571-B391D17ED77F}"/>
                </a:ext>
              </a:extLst>
            </p:cNvPr>
            <p:cNvSpPr txBox="1"/>
            <p:nvPr/>
          </p:nvSpPr>
          <p:spPr>
            <a:xfrm>
              <a:off x="710042" y="180459"/>
              <a:ext cx="1777025" cy="369332"/>
            </a:xfrm>
            <a:prstGeom prst="rect">
              <a:avLst/>
            </a:prstGeom>
            <a:grp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QAOA methods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ABA81A11-3F34-F8E5-9D0E-351034A29A57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1090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3B238-8717-B05A-3AC5-53E93860F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3482C-936F-7221-7439-986B7EB2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Multi angle (ma-QAOA)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4553D4-FA57-3A8D-8CC8-2065736DB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10D2685-CB1B-3230-BECE-50BF424B9C49}"/>
              </a:ext>
            </a:extLst>
          </p:cNvPr>
          <p:cNvGrpSpPr/>
          <p:nvPr/>
        </p:nvGrpSpPr>
        <p:grpSpPr>
          <a:xfrm>
            <a:off x="200647" y="173967"/>
            <a:ext cx="2286420" cy="382316"/>
            <a:chOff x="200647" y="173967"/>
            <a:chExt cx="2286420" cy="38231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6CE379E3-DF50-F75D-11D2-CAD2E72394D5}"/>
                </a:ext>
              </a:extLst>
            </p:cNvPr>
            <p:cNvSpPr txBox="1"/>
            <p:nvPr/>
          </p:nvSpPr>
          <p:spPr>
            <a:xfrm>
              <a:off x="710042" y="180459"/>
              <a:ext cx="1777025" cy="369332"/>
            </a:xfrm>
            <a:prstGeom prst="rect">
              <a:avLst/>
            </a:prstGeom>
            <a:grp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QAOA methods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0BE0B9C-B252-6E1A-4280-875F5ADF2413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5639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6076-A942-5AF4-8CA9-3FDAC934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5138F7-345E-9397-D37A-CB8718E48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Expressive (XQAOA)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62D166-EC7B-1618-5C0A-5F6FAD0F9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F5BC2FC-14F3-2EC6-9DE6-A4B2154917BC}"/>
              </a:ext>
            </a:extLst>
          </p:cNvPr>
          <p:cNvGrpSpPr/>
          <p:nvPr/>
        </p:nvGrpSpPr>
        <p:grpSpPr>
          <a:xfrm>
            <a:off x="200647" y="173967"/>
            <a:ext cx="2286420" cy="382316"/>
            <a:chOff x="200647" y="173967"/>
            <a:chExt cx="2286420" cy="38231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288D74C4-7765-1C0B-1764-FB63872006DF}"/>
                </a:ext>
              </a:extLst>
            </p:cNvPr>
            <p:cNvSpPr txBox="1"/>
            <p:nvPr/>
          </p:nvSpPr>
          <p:spPr>
            <a:xfrm>
              <a:off x="710042" y="180459"/>
              <a:ext cx="1777025" cy="369332"/>
            </a:xfrm>
            <a:prstGeom prst="rect">
              <a:avLst/>
            </a:prstGeom>
            <a:grp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QAOA methods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00DC833B-A021-0A6A-06E5-49FA521E9718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914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1BFB-67B0-F9C2-58EE-1762F882C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59FBB1-6AE7-0700-BAB6-58653FCDE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Recursive (RQAOA)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191E9F-49FE-04D0-55C7-C3E78E29C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380BC462-3491-9630-C833-6844E38E89CF}"/>
              </a:ext>
            </a:extLst>
          </p:cNvPr>
          <p:cNvGrpSpPr/>
          <p:nvPr/>
        </p:nvGrpSpPr>
        <p:grpSpPr>
          <a:xfrm>
            <a:off x="200647" y="173967"/>
            <a:ext cx="2286420" cy="382316"/>
            <a:chOff x="200647" y="173967"/>
            <a:chExt cx="2286420" cy="38231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DD37C04C-5394-32AB-87C4-45524C51F4A4}"/>
                </a:ext>
              </a:extLst>
            </p:cNvPr>
            <p:cNvSpPr txBox="1"/>
            <p:nvPr/>
          </p:nvSpPr>
          <p:spPr>
            <a:xfrm>
              <a:off x="710042" y="180459"/>
              <a:ext cx="1777025" cy="369332"/>
            </a:xfrm>
            <a:prstGeom prst="rect">
              <a:avLst/>
            </a:prstGeom>
            <a:grp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QAOA methods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1CE97644-71D6-883D-847E-0199340A8992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7929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D7BCA-3940-B360-24AA-00ED099A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14DF2F-3C6C-61B4-CF82-41AB37C22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Parameter transfer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C2042B-76B7-6E88-9D76-F42B4AED9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INTERP:</a:t>
            </a:r>
          </a:p>
          <a:p>
            <a:endParaRPr lang="fr-FR" b="1" dirty="0"/>
          </a:p>
          <a:p>
            <a:r>
              <a:rPr lang="fr-FR" b="1" dirty="0"/>
              <a:t>FOURIER:</a:t>
            </a:r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103ED6A-8418-B942-A6BB-74EF2ED967C4}"/>
              </a:ext>
            </a:extLst>
          </p:cNvPr>
          <p:cNvGrpSpPr/>
          <p:nvPr/>
        </p:nvGrpSpPr>
        <p:grpSpPr>
          <a:xfrm>
            <a:off x="200647" y="173967"/>
            <a:ext cx="2286420" cy="382316"/>
            <a:chOff x="200647" y="173967"/>
            <a:chExt cx="2286420" cy="38231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98E94DD1-AE18-6DDC-156F-4A00290F2DE2}"/>
                </a:ext>
              </a:extLst>
            </p:cNvPr>
            <p:cNvSpPr txBox="1"/>
            <p:nvPr/>
          </p:nvSpPr>
          <p:spPr>
            <a:xfrm>
              <a:off x="710042" y="180459"/>
              <a:ext cx="1777025" cy="369332"/>
            </a:xfrm>
            <a:prstGeom prst="rect">
              <a:avLst/>
            </a:prstGeom>
            <a:grp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QAOA methods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256AD241-C593-155C-FE3D-E39C6C0FABB7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456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E2C79-7364-FA57-D2C3-CD8ABC66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46A829-1D3D-B5C1-3A10-4DFB511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Questions to study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8C8DA3-9302-1674-59E7-15A7BAB32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Does warm start help/</a:t>
            </a:r>
            <a:r>
              <a:rPr lang="fr-FR" b="1" dirty="0" err="1"/>
              <a:t>hurt</a:t>
            </a:r>
            <a:r>
              <a:rPr lang="fr-FR" b="1" dirty="0"/>
              <a:t> </a:t>
            </a:r>
            <a:r>
              <a:rPr lang="fr-FR" b="1" dirty="0" err="1"/>
              <a:t>trainability</a:t>
            </a:r>
            <a:r>
              <a:rPr lang="fr-FR" b="1" dirty="0"/>
              <a:t> (Barren plateau </a:t>
            </a:r>
            <a:r>
              <a:rPr lang="fr-FR" b="1" dirty="0" err="1"/>
              <a:t>proneness</a:t>
            </a:r>
            <a:r>
              <a:rPr lang="fr-FR" b="1" dirty="0"/>
              <a:t>) + Compatibility of warm </a:t>
            </a:r>
            <a:r>
              <a:rPr lang="fr-FR" b="1" dirty="0" err="1"/>
              <a:t>starting</a:t>
            </a:r>
            <a:r>
              <a:rPr lang="fr-FR" b="1" dirty="0"/>
              <a:t> with </a:t>
            </a:r>
            <a:r>
              <a:rPr lang="fr-FR" b="1" dirty="0" err="1"/>
              <a:t>parameter</a:t>
            </a:r>
            <a:r>
              <a:rPr lang="fr-FR" b="1" dirty="0"/>
              <a:t> </a:t>
            </a:r>
            <a:r>
              <a:rPr lang="fr-FR" b="1" dirty="0" err="1"/>
              <a:t>transfer</a:t>
            </a:r>
            <a:endParaRPr lang="fr-FR" b="1" dirty="0"/>
          </a:p>
          <a:p>
            <a:r>
              <a:rPr lang="fr-FR" b="1" dirty="0" err="1"/>
              <a:t>Accuracy</a:t>
            </a:r>
            <a:r>
              <a:rPr lang="fr-FR" b="1" dirty="0"/>
              <a:t> and Barren </a:t>
            </a:r>
            <a:r>
              <a:rPr lang="fr-FR" b="1" dirty="0" err="1"/>
              <a:t>proneness</a:t>
            </a:r>
            <a:r>
              <a:rPr lang="fr-FR" b="1" dirty="0"/>
              <a:t> of standard / ma / X for same number of </a:t>
            </a:r>
            <a:r>
              <a:rPr lang="fr-FR" b="1" dirty="0" err="1"/>
              <a:t>parameters</a:t>
            </a:r>
            <a:endParaRPr lang="fr-FR" b="1" dirty="0"/>
          </a:p>
          <a:p>
            <a:r>
              <a:rPr lang="fr-FR" b="1" dirty="0"/>
              <a:t>RQAOA:</a:t>
            </a:r>
            <a:r>
              <a:rPr lang="fr-FR" dirty="0"/>
              <a:t> Compare </a:t>
            </a:r>
            <a:r>
              <a:rPr lang="fr-FR" dirty="0" err="1"/>
              <a:t>accuracy</a:t>
            </a:r>
            <a:r>
              <a:rPr lang="fr-FR" dirty="0"/>
              <a:t> and Barren plateaux of RQAOA vs QAOA for same </a:t>
            </a:r>
            <a:r>
              <a:rPr lang="fr-FR" dirty="0" err="1"/>
              <a:t>computational</a:t>
            </a:r>
            <a:r>
              <a:rPr lang="fr-FR" dirty="0"/>
              <a:t> cost. See if the </a:t>
            </a:r>
            <a:r>
              <a:rPr lang="fr-FR" dirty="0" err="1"/>
              <a:t>advantages</a:t>
            </a:r>
            <a:r>
              <a:rPr lang="fr-FR" dirty="0"/>
              <a:t> of RQAOA with respect to QAOA </a:t>
            </a:r>
            <a:r>
              <a:rPr lang="fr-FR" dirty="0" err="1"/>
              <a:t>persist</a:t>
            </a:r>
            <a:r>
              <a:rPr lang="fr-FR" dirty="0"/>
              <a:t> at large </a:t>
            </a:r>
            <a:r>
              <a:rPr lang="fr-FR" dirty="0" err="1"/>
              <a:t>depth</a:t>
            </a:r>
            <a:r>
              <a:rPr lang="fr-FR" dirty="0"/>
              <a:t> (</a:t>
            </a:r>
            <a:r>
              <a:rPr lang="fr-FR" dirty="0" err="1"/>
              <a:t>Bravyi</a:t>
            </a:r>
            <a:r>
              <a:rPr lang="fr-FR" dirty="0"/>
              <a:t> et al.)</a:t>
            </a:r>
            <a:endParaRPr lang="en-GB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E06062E-0E0F-E35B-4825-7B173D19BA54}"/>
              </a:ext>
            </a:extLst>
          </p:cNvPr>
          <p:cNvGrpSpPr/>
          <p:nvPr/>
        </p:nvGrpSpPr>
        <p:grpSpPr>
          <a:xfrm>
            <a:off x="200647" y="173967"/>
            <a:ext cx="2286420" cy="382316"/>
            <a:chOff x="200647" y="173967"/>
            <a:chExt cx="2286420" cy="38231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E8C61E3A-E7A0-2F6F-530E-ACC7CCFF337D}"/>
                </a:ext>
              </a:extLst>
            </p:cNvPr>
            <p:cNvSpPr txBox="1"/>
            <p:nvPr/>
          </p:nvSpPr>
          <p:spPr>
            <a:xfrm>
              <a:off x="710042" y="180459"/>
              <a:ext cx="1777025" cy="369332"/>
            </a:xfrm>
            <a:prstGeom prst="rect">
              <a:avLst/>
            </a:prstGeom>
            <a:grp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QAOA methods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2978EA69-8A46-61A1-93A2-D1E521252B1F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4574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9B42-EA8A-8B44-ED2F-DC83D0C4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path_graph — NetworkX 3.6.1 documentation">
            <a:extLst>
              <a:ext uri="{FF2B5EF4-FFF2-40B4-BE49-F238E27FC236}">
                <a16:creationId xmlns:a16="http://schemas.microsoft.com/office/drawing/2014/main" id="{B872173E-C1FB-63A8-CF59-43B10E95B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420369">
            <a:off x="4405515" y="2223215"/>
            <a:ext cx="1391448" cy="104358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3A23246-807D-20E3-A9E5-2E58D37B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19826"/>
            <a:ext cx="10515600" cy="1325563"/>
          </a:xfrm>
        </p:spPr>
        <p:txBody>
          <a:bodyPr/>
          <a:lstStyle/>
          <a:p>
            <a:r>
              <a:rPr lang="en-GB" b="1" dirty="0"/>
              <a:t>Graph classes studied </a:t>
            </a:r>
            <a:r>
              <a:rPr lang="en-GB" dirty="0"/>
              <a:t>(</a:t>
            </a:r>
            <a:r>
              <a:rPr lang="en-GB" u="sng" dirty="0"/>
              <a:t>deterministic</a:t>
            </a:r>
            <a:r>
              <a:rPr lang="en-GB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BFEC8EF-6B99-2867-341E-BC33A0CB2E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632" y="1825625"/>
                <a:ext cx="5257800" cy="4351338"/>
              </a:xfrm>
            </p:spPr>
            <p:txBody>
              <a:bodyPr>
                <a:normAutofit/>
              </a:bodyPr>
              <a:lstStyle/>
              <a:p>
                <a:pPr marL="0" lvl="1" indent="0">
                  <a:buNone/>
                </a:pPr>
                <a:r>
                  <a:rPr lang="en-GB" b="1" noProof="0" dirty="0">
                    <a:latin typeface="+mj-lt"/>
                    <a:cs typeface="Courier New" panose="02070309020205020404" pitchFamily="49" charset="0"/>
                  </a:rPr>
                  <a:t>Path graphs</a:t>
                </a:r>
                <a:endParaRPr lang="en-GB" sz="2000" b="0" i="1" noProof="0" dirty="0">
                  <a:latin typeface="Cambria Math" panose="02040503050406030204" pitchFamily="18" charset="0"/>
                </a:endParaRPr>
              </a:p>
              <a:p>
                <a:pPr marL="217488" lvl="1" indent="0">
                  <a:buNone/>
                </a:pPr>
                <a:endParaRPr lang="en-GB" sz="1000" b="0" i="1" noProof="0" dirty="0">
                  <a:latin typeface="Cambria Math" panose="02040503050406030204" pitchFamily="18" charset="0"/>
                </a:endParaRPr>
              </a:p>
              <a:p>
                <a:pPr marL="217488" lvl="1" indent="0">
                  <a:buNone/>
                </a:pPr>
                <a14:m>
                  <m:oMath xmlns:m="http://schemas.openxmlformats.org/officeDocument/2006/math">
                    <m:r>
                      <a:rPr lang="en-GB" sz="2000" b="0" i="1" noProof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000" b="0" i="1" noProof="0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GB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noProof="0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GB" sz="2000" b="0" i="1" noProof="0" smtClean="0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ctrlPr>
                          <a:rPr lang="en-GB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GB" sz="2000" b="0" i="1" noProof="0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GB" sz="2000" b="0" i="1" noProof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GB" sz="2000" b="0" i="1" noProof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000" noProof="0" dirty="0"/>
                  <a:t> </a:t>
                </a:r>
              </a:p>
              <a:p>
                <a:pPr marL="0" lvl="1" indent="0">
                  <a:buNone/>
                </a:pPr>
                <a:endParaRPr lang="en-GB" sz="2000" noProof="0" dirty="0"/>
              </a:p>
              <a:p>
                <a:pPr marL="0" lvl="1" indent="0">
                  <a:buNone/>
                </a:pPr>
                <a:endParaRPr lang="en-GB" sz="2000" noProof="0" dirty="0"/>
              </a:p>
              <a:p>
                <a:pPr marL="0" lvl="1" indent="0">
                  <a:buNone/>
                </a:pPr>
                <a:endParaRPr lang="en-GB" sz="2000" noProof="0" dirty="0"/>
              </a:p>
              <a:p>
                <a:pPr marL="0" lvl="1" indent="0">
                  <a:buNone/>
                </a:pPr>
                <a:endParaRPr lang="en-GB" sz="2000" noProof="0" dirty="0"/>
              </a:p>
              <a:p>
                <a:pPr marL="0" lvl="1" indent="0">
                  <a:buNone/>
                </a:pPr>
                <a:endParaRPr lang="en-GB" sz="1500" noProof="0" dirty="0"/>
              </a:p>
              <a:p>
                <a:pPr marL="0" lvl="1" indent="0">
                  <a:buNone/>
                </a:pPr>
                <a:r>
                  <a:rPr lang="en-GB" b="1" noProof="0" dirty="0">
                    <a:cs typeface="Courier New" panose="02070309020205020404" pitchFamily="49" charset="0"/>
                  </a:rPr>
                  <a:t>Complete graphs</a:t>
                </a:r>
                <a:endParaRPr lang="en-GB" sz="2000" i="1" noProof="0" dirty="0">
                  <a:latin typeface="Cambria Math" panose="02040503050406030204" pitchFamily="18" charset="0"/>
                </a:endParaRPr>
              </a:p>
              <a:p>
                <a:pPr marL="217488" lvl="1" indent="0">
                  <a:buNone/>
                </a:pPr>
                <a:endParaRPr lang="en-GB" sz="1000" i="1" noProof="0" dirty="0">
                  <a:latin typeface="Cambria Math" panose="02040503050406030204" pitchFamily="18" charset="0"/>
                </a:endParaRPr>
              </a:p>
              <a:p>
                <a:pPr marL="217488" lvl="1" indent="0">
                  <a:buNone/>
                </a:pPr>
                <a14:m>
                  <m:oMath xmlns:m="http://schemas.openxmlformats.org/officeDocument/2006/math">
                    <m:r>
                      <a:rPr lang="en-GB" sz="2000" i="1" noProof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GB" sz="20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sz="20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000" i="1" noProof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2000" i="1" noProof="0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GB" sz="2000" b="0" i="1" noProof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GB" sz="20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GB" sz="200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noProof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000" b="0" i="1" noProof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2000" b="0" i="1" noProof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000" i="1" noProof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000" noProof="0" dirty="0"/>
                  <a:t> </a:t>
                </a:r>
              </a:p>
              <a:p>
                <a:pPr marL="0" lvl="1" indent="0">
                  <a:buNone/>
                </a:pPr>
                <a:endParaRPr lang="en-GB" sz="2000" noProof="0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BFEC8EF-6B99-2867-341E-BC33A0CB2E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632" y="1825625"/>
                <a:ext cx="5257800" cy="4351338"/>
              </a:xfrm>
              <a:blipFill>
                <a:blip r:embed="rId3"/>
                <a:stretch>
                  <a:fillRect l="-1738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ce réservé du contenu 2">
                <a:extLst>
                  <a:ext uri="{FF2B5EF4-FFF2-40B4-BE49-F238E27FC236}">
                    <a16:creationId xmlns:a16="http://schemas.microsoft.com/office/drawing/2014/main" id="{0D9605F6-5462-4A55-23E5-6AB93B0FBB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58570" y="1825625"/>
                <a:ext cx="566977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buNone/>
                </a:pPr>
                <a:r>
                  <a:rPr lang="fr-FR" b="1" dirty="0">
                    <a:cs typeface="Courier New" panose="02070309020205020404" pitchFamily="49" charset="0"/>
                  </a:rPr>
                  <a:t>Cycle graphs</a:t>
                </a:r>
                <a:endParaRPr lang="fr-FR" sz="2000" i="1" dirty="0">
                  <a:latin typeface="Cambria Math" panose="02040503050406030204" pitchFamily="18" charset="0"/>
                </a:endParaRPr>
              </a:p>
              <a:p>
                <a:pPr marL="217488" lvl="1" indent="0">
                  <a:buNone/>
                </a:pP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marL="217488" lvl="1" indent="0">
                  <a:buNone/>
                </a:pPr>
                <a14:m>
                  <m:oMath xmlns:m="http://schemas.openxmlformats.org/officeDocument/2006/math">
                    <m:r>
                      <a:rPr lang="fr-FR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sz="2000" i="1" dirty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fr-FR" sz="2000" i="1" dirty="0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ctrlPr>
                          <a:rPr lang="fr-F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r-FR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fr-FR" sz="2000" dirty="0"/>
                  <a:t> </a:t>
                </a:r>
              </a:p>
              <a:p>
                <a:pPr marL="0" lvl="1" indent="0">
                  <a:buNone/>
                </a:pPr>
                <a:endParaRPr lang="fr-FR" sz="2000" dirty="0"/>
              </a:p>
              <a:p>
                <a:pPr marL="0" lvl="1" indent="0">
                  <a:buNone/>
                </a:pPr>
                <a:endParaRPr lang="fr-FR" sz="2000" dirty="0"/>
              </a:p>
              <a:p>
                <a:pPr marL="0" lvl="1" indent="0">
                  <a:buNone/>
                </a:pPr>
                <a:endParaRPr lang="fr-FR" sz="2000" dirty="0"/>
              </a:p>
              <a:p>
                <a:pPr marL="0" lvl="1" indent="0">
                  <a:buNone/>
                </a:pPr>
                <a:endParaRPr lang="fr-FR" sz="2000" dirty="0"/>
              </a:p>
              <a:p>
                <a:pPr marL="0" lvl="1" indent="0">
                  <a:buNone/>
                </a:pPr>
                <a:endParaRPr lang="fr-FR" sz="1500" dirty="0"/>
              </a:p>
              <a:p>
                <a:pPr marL="0" lvl="1" indent="0">
                  <a:buNone/>
                </a:pPr>
                <a:r>
                  <a:rPr lang="fr-FR" b="1" dirty="0">
                    <a:cs typeface="Courier New" panose="02070309020205020404" pitchFamily="49" charset="0"/>
                  </a:rPr>
                  <a:t>Complete bipartite graphs</a:t>
                </a:r>
                <a:endParaRPr lang="fr-FR" sz="2000" i="1" dirty="0">
                  <a:latin typeface="Cambria Math" panose="02040503050406030204" pitchFamily="18" charset="0"/>
                </a:endParaRPr>
              </a:p>
              <a:p>
                <a:pPr marL="217488" lvl="1" indent="0">
                  <a:buNone/>
                </a:pPr>
                <a:endParaRPr lang="fr-FR" sz="1000" i="1" dirty="0">
                  <a:latin typeface="Cambria Math" panose="02040503050406030204" pitchFamily="18" charset="0"/>
                </a:endParaRPr>
              </a:p>
              <a:p>
                <a:pPr marL="217488" lvl="1" indent="0">
                  <a:buNone/>
                </a:pPr>
                <a14:m>
                  <m:oMath xmlns:m="http://schemas.openxmlformats.org/officeDocument/2006/math">
                    <m:r>
                      <a:rPr lang="fr-FR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r-FR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fr-FR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fr-FR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fr-FR" sz="20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fr-FR" sz="20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fr-FR" sz="2000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]}</m:t>
                    </m:r>
                  </m:oMath>
                </a14:m>
                <a:r>
                  <a:rPr lang="fr-FR" sz="2000" dirty="0"/>
                  <a:t> </a:t>
                </a:r>
              </a:p>
              <a:p>
                <a:pPr marL="0" lvl="1" indent="0">
                  <a:buNone/>
                </a:pPr>
                <a:endParaRPr lang="fr-FR" sz="2000" dirty="0"/>
              </a:p>
            </p:txBody>
          </p:sp>
        </mc:Choice>
        <mc:Fallback xmlns="">
          <p:sp>
            <p:nvSpPr>
              <p:cNvPr id="7" name="Espace réservé du contenu 2">
                <a:extLst>
                  <a:ext uri="{FF2B5EF4-FFF2-40B4-BE49-F238E27FC236}">
                    <a16:creationId xmlns:a16="http://schemas.microsoft.com/office/drawing/2014/main" id="{0D9605F6-5462-4A55-23E5-6AB93B0FB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570" y="1825625"/>
                <a:ext cx="5669776" cy="4351338"/>
              </a:xfrm>
              <a:prstGeom prst="rect">
                <a:avLst/>
              </a:prstGeom>
              <a:blipFill>
                <a:blip r:embed="rId4"/>
                <a:stretch>
                  <a:fillRect l="-1613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e 7">
            <a:extLst>
              <a:ext uri="{FF2B5EF4-FFF2-40B4-BE49-F238E27FC236}">
                <a16:creationId xmlns:a16="http://schemas.microsoft.com/office/drawing/2014/main" id="{A0E9470A-1FA5-ADFA-E2F4-6554ACAB3442}"/>
              </a:ext>
            </a:extLst>
          </p:cNvPr>
          <p:cNvGrpSpPr/>
          <p:nvPr/>
        </p:nvGrpSpPr>
        <p:grpSpPr>
          <a:xfrm>
            <a:off x="200647" y="173967"/>
            <a:ext cx="2592722" cy="382316"/>
            <a:chOff x="200647" y="173967"/>
            <a:chExt cx="2592722" cy="38231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73B3C51E-2F08-F562-755D-F3DFDCE1CF55}"/>
                </a:ext>
              </a:extLst>
            </p:cNvPr>
            <p:cNvSpPr txBox="1"/>
            <p:nvPr/>
          </p:nvSpPr>
          <p:spPr>
            <a:xfrm>
              <a:off x="710042" y="180459"/>
              <a:ext cx="2083327" cy="369332"/>
            </a:xfrm>
            <a:prstGeom prst="rect">
              <a:avLst/>
            </a:prstGeom>
            <a:grp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Problem variables</a:t>
              </a:r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8FAD91C4-503B-F2F5-BE37-A8774BD4599D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8480CC69-FA63-EF70-B292-2EC9421270CA}"/>
              </a:ext>
            </a:extLst>
          </p:cNvPr>
          <p:cNvSpPr txBox="1"/>
          <p:nvPr/>
        </p:nvSpPr>
        <p:spPr>
          <a:xfrm>
            <a:off x="1735419" y="3121223"/>
            <a:ext cx="1903085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nx.path_graph</a:t>
            </a:r>
            <a:r>
              <a:rPr lang="en-GB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  <a:endParaRPr lang="en-GB" sz="1400" b="1" i="1" noProof="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F3536BF-AB62-643F-96E3-3DB419B2B6EB}"/>
              </a:ext>
            </a:extLst>
          </p:cNvPr>
          <p:cNvSpPr txBox="1"/>
          <p:nvPr/>
        </p:nvSpPr>
        <p:spPr>
          <a:xfrm>
            <a:off x="6932048" y="3121223"/>
            <a:ext cx="2440092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nx.circulant_graph(N)</a:t>
            </a:r>
            <a:endParaRPr lang="en-GB" sz="1400" b="1" i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3962634-96F2-76F1-8511-BA13D272DDAE}"/>
              </a:ext>
            </a:extLst>
          </p:cNvPr>
          <p:cNvSpPr txBox="1"/>
          <p:nvPr/>
        </p:nvSpPr>
        <p:spPr>
          <a:xfrm>
            <a:off x="1527809" y="5731289"/>
            <a:ext cx="2318304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nx.complete_graph</a:t>
            </a:r>
            <a:r>
              <a:rPr lang="en-GB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  <a:endParaRPr lang="en-GB" sz="1400" b="1" i="1" noProof="0" dirty="0"/>
          </a:p>
        </p:txBody>
      </p:sp>
      <p:pic>
        <p:nvPicPr>
          <p:cNvPr id="15" name="Image 14" descr="Complete graph - Wikipedia">
            <a:extLst>
              <a:ext uri="{FF2B5EF4-FFF2-40B4-BE49-F238E27FC236}">
                <a16:creationId xmlns:a16="http://schemas.microsoft.com/office/drawing/2014/main" id="{E2D506A0-6F45-C7B7-E983-2FFD917AF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737" y="4573514"/>
            <a:ext cx="1035249" cy="1015838"/>
          </a:xfrm>
          <a:prstGeom prst="rect">
            <a:avLst/>
          </a:prstGeom>
        </p:spPr>
      </p:pic>
      <p:pic>
        <p:nvPicPr>
          <p:cNvPr id="17" name="Image 16" descr="Cycle graph - Wikipedia">
            <a:extLst>
              <a:ext uri="{FF2B5EF4-FFF2-40B4-BE49-F238E27FC236}">
                <a16:creationId xmlns:a16="http://schemas.microsoft.com/office/drawing/2014/main" id="{E57F6443-1D6D-B5F4-8E40-B21AA878E6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5617" y="1875354"/>
            <a:ext cx="1270751" cy="1335281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8AE979F5-A4CC-AC92-B5B4-9B210D0E2B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6555" y="5589352"/>
            <a:ext cx="1928874" cy="9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552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8AEB-7B2B-ADCD-B9A9-54658EEE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EBD886-008E-FEDD-0A46-9224D7A5D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826"/>
            <a:ext cx="10515600" cy="1325563"/>
          </a:xfrm>
        </p:spPr>
        <p:txBody>
          <a:bodyPr/>
          <a:lstStyle/>
          <a:p>
            <a:r>
              <a:rPr lang="en-GB" b="1" dirty="0"/>
              <a:t>Graph classes studied </a:t>
            </a:r>
            <a:r>
              <a:rPr lang="en-GB" dirty="0"/>
              <a:t>(</a:t>
            </a:r>
            <a:r>
              <a:rPr lang="en-GB" u="sng" dirty="0"/>
              <a:t>random</a:t>
            </a:r>
            <a:r>
              <a:rPr lang="en-GB" dirty="0"/>
              <a:t>)</a:t>
            </a: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546AB2-4FE4-10DE-3D0F-9BF82D369A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632" y="1825625"/>
                <a:ext cx="5257800" cy="4351338"/>
              </a:xfrm>
            </p:spPr>
            <p:txBody>
              <a:bodyPr>
                <a:normAutofit/>
              </a:bodyPr>
              <a:lstStyle/>
              <a:p>
                <a:pPr marL="0" lvl="1" indent="0">
                  <a:buNone/>
                </a:pPr>
                <a:r>
                  <a:rPr lang="fr-FR" b="1" dirty="0">
                    <a:latin typeface="+mj-lt"/>
                    <a:cs typeface="Courier New" panose="02070309020205020404" pitchFamily="49" charset="0"/>
                  </a:rPr>
                  <a:t>Random Gilbert</a:t>
                </a:r>
                <a:endParaRPr lang="fr-FR" sz="2000" b="0" i="1" dirty="0">
                  <a:latin typeface="Cambria Math" panose="02040503050406030204" pitchFamily="18" charset="0"/>
                </a:endParaRPr>
              </a:p>
              <a:p>
                <a:pPr marL="446088" lvl="1"/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fr-FR" sz="2000" dirty="0"/>
                  <a:t>, the </a:t>
                </a:r>
                <a:r>
                  <a:rPr lang="fr-FR" sz="2000" dirty="0" err="1"/>
                  <a:t>edge</a:t>
                </a:r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000" dirty="0"/>
                  <a:t> exits with </a:t>
                </a:r>
                <a:r>
                  <a:rPr lang="fr-FR" sz="2000" dirty="0" err="1"/>
                  <a:t>probability</a:t>
                </a:r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FR" sz="2000" dirty="0"/>
              </a:p>
              <a:p>
                <a:pPr marL="446088" lvl="1"/>
                <a:r>
                  <a:rPr lang="fr-FR" sz="2000" dirty="0"/>
                  <a:t>Expected number of </a:t>
                </a:r>
                <a:r>
                  <a:rPr lang="fr-FR" sz="2000" dirty="0" err="1"/>
                  <a:t>nodes</a:t>
                </a:r>
                <a:r>
                  <a:rPr lang="fr-FR" sz="20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fr-F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fr-FR" sz="20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FR" sz="2000" dirty="0"/>
              </a:p>
              <a:p>
                <a:pPr marL="446088" lvl="1"/>
                <a:r>
                  <a:rPr lang="fr-FR" sz="2000" dirty="0"/>
                  <a:t>Expected </a:t>
                </a:r>
                <a:r>
                  <a:rPr lang="fr-FR" sz="2000" dirty="0" err="1"/>
                  <a:t>degree</a:t>
                </a:r>
                <a:r>
                  <a:rPr lang="fr-FR" sz="2000" dirty="0"/>
                  <a:t> of one </a:t>
                </a:r>
                <a:r>
                  <a:rPr lang="fr-FR" sz="2000" dirty="0" err="1"/>
                  <a:t>node</a:t>
                </a:r>
                <a:r>
                  <a:rPr lang="fr-FR" sz="20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fr-F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sz="2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fr-F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sz="2000" b="0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fr-FR" sz="20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3546AB2-4FE4-10DE-3D0F-9BF82D369A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632" y="1825625"/>
                <a:ext cx="5257800" cy="4351338"/>
              </a:xfrm>
              <a:blipFill>
                <a:blip r:embed="rId2"/>
                <a:stretch>
                  <a:fillRect l="-1738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>
            <a:extLst>
              <a:ext uri="{FF2B5EF4-FFF2-40B4-BE49-F238E27FC236}">
                <a16:creationId xmlns:a16="http://schemas.microsoft.com/office/drawing/2014/main" id="{11093F0E-C39B-8E61-F955-E0FBD6B0B45A}"/>
              </a:ext>
            </a:extLst>
          </p:cNvPr>
          <p:cNvSpPr txBox="1"/>
          <p:nvPr/>
        </p:nvSpPr>
        <p:spPr>
          <a:xfrm>
            <a:off x="3905618" y="4712101"/>
            <a:ext cx="193514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b="1" i="1" dirty="0"/>
              <a:t>Gilbert E.N, 1959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B4E2036-A54D-0C55-2392-98C33FDC21DA}"/>
              </a:ext>
            </a:extLst>
          </p:cNvPr>
          <p:cNvSpPr txBox="1"/>
          <p:nvPr/>
        </p:nvSpPr>
        <p:spPr>
          <a:xfrm>
            <a:off x="9766823" y="4712101"/>
            <a:ext cx="196316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GB" b="1" i="1" dirty="0"/>
              <a:t>Kim and Vu, 2003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ce réservé du contenu 2">
                <a:extLst>
                  <a:ext uri="{FF2B5EF4-FFF2-40B4-BE49-F238E27FC236}">
                    <a16:creationId xmlns:a16="http://schemas.microsoft.com/office/drawing/2014/main" id="{E11F24A1-F618-45C4-1DB8-83ABD56780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58570" y="1825625"/>
                <a:ext cx="5669776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fr-FR" sz="2400" b="1" dirty="0">
                    <a:latin typeface="+mj-lt"/>
                    <a:cs typeface="Courier New" panose="02070309020205020404" pitchFamily="49" charset="0"/>
                  </a:rPr>
                  <a:t>Random d-</a:t>
                </a:r>
                <a:r>
                  <a:rPr lang="fr-FR" sz="2400" b="1" dirty="0" err="1">
                    <a:latin typeface="+mj-lt"/>
                    <a:cs typeface="Courier New" panose="02070309020205020404" pitchFamily="49" charset="0"/>
                  </a:rPr>
                  <a:t>regular</a:t>
                </a:r>
                <a:endParaRPr lang="fr-FR" sz="2000" dirty="0"/>
              </a:p>
              <a:p>
                <a:pPr marL="446088" lvl="1"/>
                <a:r>
                  <a:rPr lang="fr-FR" sz="2000" dirty="0"/>
                  <a:t>Uniform sampling of a </a:t>
                </a:r>
                <a14:m>
                  <m:oMath xmlns:m="http://schemas.openxmlformats.org/officeDocument/2006/math">
                    <m:r>
                      <a:rPr lang="fr-FR" sz="2000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fr-FR" sz="2000" dirty="0"/>
                  <a:t>-</a:t>
                </a:r>
                <a:r>
                  <a:rPr lang="fr-FR" sz="2000" dirty="0" err="1"/>
                  <a:t>regular</a:t>
                </a:r>
                <a:r>
                  <a:rPr lang="fr-FR" sz="2000" dirty="0"/>
                  <a:t> graph</a:t>
                </a:r>
              </a:p>
              <a:p>
                <a:pPr marL="446088" lvl="1"/>
                <a:r>
                  <a:rPr lang="fr-FR" sz="2000" dirty="0"/>
                  <a:t>Number of </a:t>
                </a:r>
                <a:r>
                  <a:rPr lang="fr-FR" sz="2000" dirty="0" err="1"/>
                  <a:t>nodes</a:t>
                </a:r>
                <a:r>
                  <a:rPr lang="fr-FR" sz="2000" dirty="0"/>
                  <a:t>: </a:t>
                </a:r>
                <a14:m>
                  <m:oMath xmlns:m="http://schemas.openxmlformats.org/officeDocument/2006/math">
                    <m:r>
                      <a:rPr lang="fr-FR" sz="20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2000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fr-FR" sz="2000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fr-FR" sz="2000" dirty="0"/>
              </a:p>
              <a:p>
                <a:pPr marL="446088" lvl="1"/>
                <a:r>
                  <a:rPr lang="fr-FR" sz="2000" dirty="0"/>
                  <a:t>Degree of one </a:t>
                </a:r>
                <a:r>
                  <a:rPr lang="fr-FR" sz="2000" dirty="0" err="1"/>
                  <a:t>node</a:t>
                </a:r>
                <a:r>
                  <a:rPr lang="fr-FR" sz="2000" dirty="0"/>
                  <a:t>: </a:t>
                </a:r>
                <a14:m>
                  <m:oMath xmlns:m="http://schemas.openxmlformats.org/officeDocument/2006/math">
                    <m:r>
                      <a:rPr lang="fr-FR" sz="2000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fr-FR" sz="2000" dirty="0"/>
              </a:p>
              <a:p>
                <a:pPr marL="446088" lvl="1"/>
                <a:r>
                  <a:rPr lang="fr-FR" sz="2000" dirty="0"/>
                  <a:t>Focus on 3-regular</a:t>
                </a:r>
              </a:p>
            </p:txBody>
          </p:sp>
        </mc:Choice>
        <mc:Fallback xmlns="">
          <p:sp>
            <p:nvSpPr>
              <p:cNvPr id="7" name="Espace réservé du contenu 2">
                <a:extLst>
                  <a:ext uri="{FF2B5EF4-FFF2-40B4-BE49-F238E27FC236}">
                    <a16:creationId xmlns:a16="http://schemas.microsoft.com/office/drawing/2014/main" id="{E11F24A1-F618-45C4-1DB8-83ABD5678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570" y="1825625"/>
                <a:ext cx="5669776" cy="4351338"/>
              </a:xfrm>
              <a:prstGeom prst="rect">
                <a:avLst/>
              </a:prstGeom>
              <a:blipFill>
                <a:blip r:embed="rId3"/>
                <a:stretch>
                  <a:fillRect l="-1613" t="-18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541D04AA-8E25-E50B-CC7E-8B10ED33F479}"/>
                  </a:ext>
                </a:extLst>
              </p:cNvPr>
              <p:cNvSpPr txBox="1"/>
              <p:nvPr/>
            </p:nvSpPr>
            <p:spPr>
              <a:xfrm>
                <a:off x="3404799" y="5853797"/>
                <a:ext cx="538057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tabLst>
                    <a:tab pos="2962275" algn="l"/>
                    <a:tab pos="3230563" algn="l"/>
                  </a:tabLst>
                </a:pPr>
                <a:r>
                  <a:rPr lang="fr-FR" dirty="0"/>
                  <a:t>⚠</a:t>
                </a:r>
                <a:r>
                  <a:rPr lang="fr-FR" b="1" dirty="0"/>
                  <a:t>  </a:t>
                </a:r>
                <a:r>
                  <a:rPr lang="en-GB" dirty="0"/>
                  <a:t>Denser graphs (large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)	=	rugged landscape</a:t>
                </a:r>
              </a:p>
              <a:p>
                <a:pPr>
                  <a:tabLst>
                    <a:tab pos="2962275" algn="l"/>
                    <a:tab pos="3230563" algn="l"/>
                  </a:tabLst>
                </a:pPr>
                <a:r>
                  <a:rPr lang="fr-FR" dirty="0"/>
                  <a:t>	⇒</a:t>
                </a:r>
                <a:r>
                  <a:rPr lang="en-GB" dirty="0"/>
                  <a:t>	</a:t>
                </a:r>
                <a:r>
                  <a:rPr lang="en-GB" u="sng" dirty="0"/>
                  <a:t>risk of local minima</a:t>
                </a:r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541D04AA-8E25-E50B-CC7E-8B10ED33F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799" y="5853797"/>
                <a:ext cx="5380576" cy="646331"/>
              </a:xfrm>
              <a:prstGeom prst="rect">
                <a:avLst/>
              </a:prstGeom>
              <a:blipFill>
                <a:blip r:embed="rId4"/>
                <a:stretch>
                  <a:fillRect l="-1020" t="-5660" r="-113" b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6ABC1AFA-EF02-D7A4-CD4E-0BEDA4DC904A}"/>
              </a:ext>
            </a:extLst>
          </p:cNvPr>
          <p:cNvSpPr txBox="1"/>
          <p:nvPr/>
        </p:nvSpPr>
        <p:spPr>
          <a:xfrm>
            <a:off x="1701181" y="4001294"/>
            <a:ext cx="3406702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fr-F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nx.fast_gnp_random_graph</a:t>
            </a:r>
            <a:r>
              <a:rPr lang="fr-F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(N, q)</a:t>
            </a:r>
            <a:endParaRPr lang="en-GB" sz="1400" b="1" i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6390AE4-73B6-FBBD-668B-82454135E11B}"/>
              </a:ext>
            </a:extLst>
          </p:cNvPr>
          <p:cNvSpPr txBox="1"/>
          <p:nvPr/>
        </p:nvSpPr>
        <p:spPr>
          <a:xfrm>
            <a:off x="7343807" y="4001293"/>
            <a:ext cx="3299301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nx.random_regular_graph(d, N)</a:t>
            </a:r>
            <a:endParaRPr lang="en-GB" sz="1400" b="1" i="1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9E7B0AB3-A0A8-F9B4-DAD2-B5429360D72D}"/>
              </a:ext>
            </a:extLst>
          </p:cNvPr>
          <p:cNvGrpSpPr/>
          <p:nvPr/>
        </p:nvGrpSpPr>
        <p:grpSpPr>
          <a:xfrm>
            <a:off x="200647" y="173967"/>
            <a:ext cx="2592722" cy="382316"/>
            <a:chOff x="200647" y="173967"/>
            <a:chExt cx="2592722" cy="38231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B24C75D4-BA10-FC9F-DB37-47CD74B6613F}"/>
                </a:ext>
              </a:extLst>
            </p:cNvPr>
            <p:cNvSpPr txBox="1"/>
            <p:nvPr/>
          </p:nvSpPr>
          <p:spPr>
            <a:xfrm>
              <a:off x="710042" y="180459"/>
              <a:ext cx="2083327" cy="369332"/>
            </a:xfrm>
            <a:prstGeom prst="rect">
              <a:avLst/>
            </a:prstGeom>
            <a:grp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Problem variables</a:t>
              </a: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54F8A80-1981-DD21-E3C5-271AFD2D4A4B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7856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C52951-5770-DF7F-9ACC-AADBCD06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The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D89567A-1040-74E1-3868-0634E19697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b="1" dirty="0"/>
                  <a:t>Graph</a:t>
                </a:r>
              </a:p>
              <a:p>
                <a:r>
                  <a:rPr lang="en-GB" dirty="0"/>
                  <a:t>Problem size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dirty="0"/>
              </a:p>
              <a:p>
                <a:r>
                  <a:rPr lang="en-GB" dirty="0"/>
                  <a:t>Graph type (Gilbert: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/>
                  <a:t> / d-regular: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Circuit</a:t>
                </a:r>
              </a:p>
              <a:p>
                <a:r>
                  <a:rPr lang="en-GB" dirty="0"/>
                  <a:t>Depth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GB" dirty="0"/>
              </a:p>
              <a:p>
                <a:r>
                  <a:rPr lang="en-GB" dirty="0"/>
                  <a:t>Device: </a:t>
                </a:r>
                <a:r>
                  <a:rPr lang="fr-FR" dirty="0" err="1"/>
                  <a:t>lightning.amdgpu</a:t>
                </a:r>
                <a:endParaRPr lang="fr-FR" dirty="0"/>
              </a:p>
              <a:p>
                <a:r>
                  <a:rPr lang="fr-FR" dirty="0" err="1"/>
                  <a:t>Estimator</a:t>
                </a:r>
                <a:r>
                  <a:rPr lang="fr-FR" dirty="0"/>
                  <a:t> shots: 10000</a:t>
                </a:r>
              </a:p>
              <a:p>
                <a:r>
                  <a:rPr lang="fr-FR" dirty="0"/>
                  <a:t>Sampler shots: 10000</a:t>
                </a: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D89567A-1040-74E1-3868-0634E19697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e 3">
            <a:extLst>
              <a:ext uri="{FF2B5EF4-FFF2-40B4-BE49-F238E27FC236}">
                <a16:creationId xmlns:a16="http://schemas.microsoft.com/office/drawing/2014/main" id="{FAC85049-9520-02A1-E2C9-60FCB08FAF9F}"/>
              </a:ext>
            </a:extLst>
          </p:cNvPr>
          <p:cNvGrpSpPr/>
          <p:nvPr/>
        </p:nvGrpSpPr>
        <p:grpSpPr>
          <a:xfrm>
            <a:off x="200647" y="173967"/>
            <a:ext cx="2592722" cy="382316"/>
            <a:chOff x="200647" y="173967"/>
            <a:chExt cx="2592722" cy="38231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1C8FF636-632F-9294-1202-62B0F5638F49}"/>
                </a:ext>
              </a:extLst>
            </p:cNvPr>
            <p:cNvSpPr txBox="1"/>
            <p:nvPr/>
          </p:nvSpPr>
          <p:spPr>
            <a:xfrm>
              <a:off x="710042" y="180459"/>
              <a:ext cx="2083327" cy="369332"/>
            </a:xfrm>
            <a:prstGeom prst="rect">
              <a:avLst/>
            </a:prstGeom>
            <a:grp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Problem variables</a:t>
              </a:r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221C76D4-C33F-4BC1-F443-6F14E9302A97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5063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CC227-24F9-940F-A75B-3FAD45D79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010578-8B18-57CA-F967-DDD074D3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The optimizer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9E6978-048C-4705-66E8-FD1F44BED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AdamOptimizer</a:t>
            </a:r>
            <a:endParaRPr lang="en-GB" dirty="0"/>
          </a:p>
          <a:p>
            <a:r>
              <a:rPr lang="en-GB" dirty="0" err="1"/>
              <a:t>GradientDescentOptimizer</a:t>
            </a:r>
            <a:endParaRPr lang="en-GB" dirty="0"/>
          </a:p>
          <a:p>
            <a:r>
              <a:rPr lang="en-GB" dirty="0"/>
              <a:t>SPSA</a:t>
            </a:r>
          </a:p>
          <a:p>
            <a:r>
              <a:rPr lang="en-GB" dirty="0"/>
              <a:t>L-BFGS-B</a:t>
            </a:r>
          </a:p>
          <a:p>
            <a:r>
              <a:rPr lang="en-GB" dirty="0"/>
              <a:t>Optimization steps: 300</a:t>
            </a: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C71CA2BD-0413-BC97-F5A7-A54D3DE1E825}"/>
              </a:ext>
            </a:extLst>
          </p:cNvPr>
          <p:cNvGrpSpPr/>
          <p:nvPr/>
        </p:nvGrpSpPr>
        <p:grpSpPr>
          <a:xfrm>
            <a:off x="200647" y="173967"/>
            <a:ext cx="2592722" cy="382316"/>
            <a:chOff x="200647" y="173967"/>
            <a:chExt cx="2592722" cy="38231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1E0C613B-C3AE-CB22-E0C7-7F27B65304D1}"/>
                </a:ext>
              </a:extLst>
            </p:cNvPr>
            <p:cNvSpPr txBox="1"/>
            <p:nvPr/>
          </p:nvSpPr>
          <p:spPr>
            <a:xfrm>
              <a:off x="710042" y="180459"/>
              <a:ext cx="2083327" cy="369332"/>
            </a:xfrm>
            <a:prstGeom prst="rect">
              <a:avLst/>
            </a:prstGeom>
            <a:grpFill/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Problem variables</a:t>
              </a:r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ECE2A1B0-54A6-9734-8AB0-02056D2216CC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9936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7DB9-946B-28CB-E5E2-6C53660AE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95117-873E-5EFB-DFC4-5D61CBCFE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826"/>
            <a:ext cx="10515600" cy="1325563"/>
          </a:xfrm>
        </p:spPr>
        <p:txBody>
          <a:bodyPr/>
          <a:lstStyle/>
          <a:p>
            <a:pPr algn="ctr"/>
            <a:r>
              <a:rPr lang="en-GB" b="1" dirty="0"/>
              <a:t>Comparison metrics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F8D0F1-FFE9-04BC-74F4-02FF71E72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632" y="1825625"/>
            <a:ext cx="5257800" cy="4351338"/>
          </a:xfrm>
        </p:spPr>
        <p:txBody>
          <a:bodyPr>
            <a:normAutofit/>
          </a:bodyPr>
          <a:lstStyle/>
          <a:p>
            <a:pPr marL="0" lvl="1" indent="0">
              <a:spcAft>
                <a:spcPts val="500"/>
              </a:spcAft>
              <a:buNone/>
            </a:pPr>
            <a:r>
              <a:rPr lang="fr-FR" b="1" dirty="0" err="1">
                <a:latin typeface="+mj-lt"/>
                <a:cs typeface="Courier New" panose="02070309020205020404" pitchFamily="49" charset="0"/>
              </a:rPr>
              <a:t>Accuracy</a:t>
            </a:r>
            <a:endParaRPr lang="fr-FR" b="1" dirty="0">
              <a:latin typeface="+mj-lt"/>
              <a:cs typeface="Courier New" panose="02070309020205020404" pitchFamily="49" charset="0"/>
            </a:endParaRPr>
          </a:p>
          <a:p>
            <a:pPr marL="265112" lvl="1" indent="0">
              <a:spcAft>
                <a:spcPts val="500"/>
              </a:spcAft>
              <a:buNone/>
            </a:pPr>
            <a:r>
              <a:rPr lang="fr-FR" sz="2000" b="1" dirty="0">
                <a:latin typeface="+mj-lt"/>
                <a:cs typeface="Courier New" panose="02070309020205020404" pitchFamily="49" charset="0"/>
              </a:rPr>
              <a:t>A1:</a:t>
            </a:r>
            <a:r>
              <a:rPr lang="fr-FR" sz="2000" dirty="0">
                <a:latin typeface="+mj-lt"/>
                <a:cs typeface="Courier New" panose="02070309020205020404" pitchFamily="49" charset="0"/>
              </a:rPr>
              <a:t> Approximation ratio</a:t>
            </a:r>
          </a:p>
          <a:p>
            <a:pPr marL="265112" lvl="1" indent="0">
              <a:spcAft>
                <a:spcPts val="500"/>
              </a:spcAft>
              <a:buNone/>
            </a:pPr>
            <a:r>
              <a:rPr lang="fr-FR" sz="2000" b="1" dirty="0">
                <a:latin typeface="+mj-lt"/>
                <a:cs typeface="Courier New" panose="02070309020205020404" pitchFamily="49" charset="0"/>
              </a:rPr>
              <a:t>A2:</a:t>
            </a:r>
            <a:r>
              <a:rPr lang="fr-FR" sz="2000" dirty="0">
                <a:latin typeface="+mj-lt"/>
                <a:cs typeface="Courier New" panose="02070309020205020404" pitchFamily="49" charset="0"/>
              </a:rPr>
              <a:t> Exact </a:t>
            </a:r>
            <a:r>
              <a:rPr lang="fr-FR" sz="2000" dirty="0" err="1">
                <a:latin typeface="+mj-lt"/>
                <a:cs typeface="Courier New" panose="02070309020205020404" pitchFamily="49" charset="0"/>
              </a:rPr>
              <a:t>success</a:t>
            </a:r>
            <a:r>
              <a:rPr lang="fr-FR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fr-FR" sz="2000" dirty="0" err="1">
                <a:latin typeface="+mj-lt"/>
                <a:cs typeface="Courier New" panose="02070309020205020404" pitchFamily="49" charset="0"/>
              </a:rPr>
              <a:t>probability</a:t>
            </a:r>
            <a:endParaRPr lang="fr-FR" sz="2000" dirty="0">
              <a:latin typeface="Cambria Math" panose="02040503050406030204" pitchFamily="18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A984B177-154F-727D-604E-0494A4206E74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6697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spcAft>
                <a:spcPts val="500"/>
              </a:spcAft>
              <a:buNone/>
            </a:pPr>
            <a:r>
              <a:rPr lang="fr-FR" b="1" dirty="0">
                <a:cs typeface="Courier New" panose="02070309020205020404" pitchFamily="49" charset="0"/>
              </a:rPr>
              <a:t>Barren plateau </a:t>
            </a:r>
            <a:r>
              <a:rPr lang="fr-FR" b="1" dirty="0" err="1">
                <a:cs typeface="Courier New" panose="02070309020205020404" pitchFamily="49" charset="0"/>
              </a:rPr>
              <a:t>proneness</a:t>
            </a:r>
            <a:endParaRPr lang="fr-FR" b="1" dirty="0">
              <a:cs typeface="Courier New" panose="02070309020205020404" pitchFamily="49" charset="0"/>
            </a:endParaRPr>
          </a:p>
          <a:p>
            <a:pPr marL="265112" lvl="1" indent="0">
              <a:spcAft>
                <a:spcPts val="500"/>
              </a:spcAft>
              <a:buNone/>
            </a:pPr>
            <a:r>
              <a:rPr lang="fr-FR" sz="2000" b="1" dirty="0">
                <a:cs typeface="Courier New" panose="02070309020205020404" pitchFamily="49" charset="0"/>
              </a:rPr>
              <a:t>B1:</a:t>
            </a:r>
            <a:r>
              <a:rPr lang="fr-FR" sz="2000" dirty="0">
                <a:cs typeface="Courier New" panose="02070309020205020404" pitchFamily="49" charset="0"/>
              </a:rPr>
              <a:t> Variance of the gradient with respect to N and p</a:t>
            </a:r>
            <a:endParaRPr lang="fr-FR" sz="2000" dirty="0"/>
          </a:p>
          <a:p>
            <a:pPr marL="265112" lvl="1" indent="0">
              <a:spcAft>
                <a:spcPts val="500"/>
              </a:spcAft>
              <a:buNone/>
            </a:pPr>
            <a:r>
              <a:rPr lang="fr-FR" sz="2000" b="1" dirty="0"/>
              <a:t>B2:</a:t>
            </a:r>
            <a:r>
              <a:rPr lang="fr-FR" sz="2000" dirty="0"/>
              <a:t> Landscape </a:t>
            </a:r>
            <a:r>
              <a:rPr lang="fr-FR" sz="2000" dirty="0" err="1"/>
              <a:t>ruggedness</a:t>
            </a:r>
            <a:r>
              <a:rPr lang="fr-FR" sz="2000" dirty="0"/>
              <a:t> around </a:t>
            </a:r>
            <a:r>
              <a:rPr lang="fr-FR" sz="2000" dirty="0" err="1"/>
              <a:t>starting</a:t>
            </a:r>
            <a:r>
              <a:rPr lang="fr-FR" sz="2000" dirty="0"/>
              <a:t>/</a:t>
            </a:r>
            <a:r>
              <a:rPr lang="fr-FR" sz="2000" dirty="0" err="1"/>
              <a:t>optimized</a:t>
            </a:r>
            <a:r>
              <a:rPr lang="fr-FR" sz="2000" dirty="0"/>
              <a:t> </a:t>
            </a:r>
            <a:r>
              <a:rPr lang="fr-FR" sz="2000" dirty="0" err="1"/>
              <a:t>parameter</a:t>
            </a:r>
            <a:r>
              <a:rPr lang="fr-FR" sz="2000" dirty="0"/>
              <a:t> set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FB83C761-50B4-2751-7976-A9CA35C5C143}"/>
              </a:ext>
            </a:extLst>
          </p:cNvPr>
          <p:cNvGrpSpPr/>
          <p:nvPr/>
        </p:nvGrpSpPr>
        <p:grpSpPr>
          <a:xfrm>
            <a:off x="200647" y="173967"/>
            <a:ext cx="2843688" cy="382316"/>
            <a:chOff x="200647" y="173967"/>
            <a:chExt cx="2843688" cy="3823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F5B15FF8-AE9B-03EE-7EFA-9190762B9A18}"/>
                </a:ext>
              </a:extLst>
            </p:cNvPr>
            <p:cNvSpPr txBox="1"/>
            <p:nvPr/>
          </p:nvSpPr>
          <p:spPr>
            <a:xfrm>
              <a:off x="710042" y="180459"/>
              <a:ext cx="2334293" cy="369332"/>
            </a:xfrm>
            <a:prstGeom prst="rect">
              <a:avLst/>
            </a:prstGeom>
            <a:grpFill/>
            <a:ln w="19050">
              <a:solidFill>
                <a:schemeClr val="accent2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Comparison metrics</a:t>
              </a: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87FEA477-DEC1-E477-71EC-A652B24A98C8}"/>
                </a:ext>
              </a:extLst>
            </p:cNvPr>
            <p:cNvSpPr/>
            <p:nvPr/>
          </p:nvSpPr>
          <p:spPr>
            <a:xfrm>
              <a:off x="200647" y="173967"/>
              <a:ext cx="382316" cy="382316"/>
            </a:xfrm>
            <a:prstGeom prst="ellipse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ysClr val="windowText" lastClr="000000"/>
                  </a:solidFill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9535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7402</TotalTime>
  <Words>780</Words>
  <Application>Microsoft Office PowerPoint</Application>
  <PresentationFormat>Grand écran</PresentationFormat>
  <Paragraphs>186</Paragraphs>
  <Slides>20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Courier New</vt:lpstr>
      <vt:lpstr>Wingdings</vt:lpstr>
      <vt:lpstr>Thème Office</vt:lpstr>
      <vt:lpstr>Performance of QAOA for MIS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Standard QAOA</vt:lpstr>
      <vt:lpstr>Constrained QAOA</vt:lpstr>
      <vt:lpstr>Warm start (WS-QAOA)</vt:lpstr>
      <vt:lpstr>Multi angle (ma-QAOA)</vt:lpstr>
      <vt:lpstr>Expressive (XQAOA)</vt:lpstr>
      <vt:lpstr>Recursive (RQAOA)</vt:lpstr>
      <vt:lpstr>Parameter transfer</vt:lpstr>
      <vt:lpstr>Questions to study</vt:lpstr>
      <vt:lpstr>Graph classes studied (deterministic)</vt:lpstr>
      <vt:lpstr>Graph classes studied (random)</vt:lpstr>
      <vt:lpstr>The circuit</vt:lpstr>
      <vt:lpstr>The optimizer</vt:lpstr>
      <vt:lpstr>Comparison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Rauch Clément (M.)</dc:creator>
  <cp:lastModifiedBy>Rauch Clément (M.)</cp:lastModifiedBy>
  <cp:revision>14</cp:revision>
  <dcterms:created xsi:type="dcterms:W3CDTF">2026-07-02T08:25:19Z</dcterms:created>
  <dcterms:modified xsi:type="dcterms:W3CDTF">2026-08-11T10:23:49Z</dcterms:modified>
</cp:coreProperties>
</file>